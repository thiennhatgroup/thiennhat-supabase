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169c9e52494ab1" /><Relationship Type="http://schemas.openxmlformats.org/officeDocument/2006/relationships/extended-properties" Target="/docProps/app.xml" Id="R815288e1f44d4b2d" /><Relationship Type="http://schemas.openxmlformats.org/officeDocument/2006/relationships/officeDocument" Target="/ppt/presentation.xml" Id="Re7a6b177b46d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2df09af184cb7"/>
  </p:sldMasterIdLst>
  <p:notesMasterIdLst>
    <p:notesMasterId xmlns:r="http://schemas.openxmlformats.org/officeDocument/2006/relationships" r:id="R87d1e7e2431549da"/>
  </p:notesMasterIdLst>
  <p:sldIdLst>
    <p:sldId xmlns:r="http://schemas.openxmlformats.org/officeDocument/2006/relationships" id="256" r:id="R4ebc20790dae4432"/>
    <p:sldId xmlns:r="http://schemas.openxmlformats.org/officeDocument/2006/relationships" id="257" r:id="R6f829d4a19344e86"/>
    <p:sldId xmlns:r="http://schemas.openxmlformats.org/officeDocument/2006/relationships" id="258" r:id="R003493011abe4d4d"/>
    <p:sldId xmlns:r="http://schemas.openxmlformats.org/officeDocument/2006/relationships" id="259" r:id="R73244d7a858d4729"/>
    <p:sldId xmlns:r="http://schemas.openxmlformats.org/officeDocument/2006/relationships" id="260" r:id="R4a54c474072c4742"/>
    <p:sldId xmlns:r="http://schemas.openxmlformats.org/officeDocument/2006/relationships" id="261" r:id="R325c490c615846b6"/>
    <p:sldId xmlns:r="http://schemas.openxmlformats.org/officeDocument/2006/relationships" id="262" r:id="Rb17fcf7734ce4a43"/>
    <p:sldId xmlns:r="http://schemas.openxmlformats.org/officeDocument/2006/relationships" id="263" r:id="Rdc00fa1e31144282"/>
    <p:sldId xmlns:r="http://schemas.openxmlformats.org/officeDocument/2006/relationships" id="264" r:id="R87d0cd58c55d4bc6"/>
    <p:sldId xmlns:r="http://schemas.openxmlformats.org/officeDocument/2006/relationships" id="265" r:id="R721beaef17d0483b"/>
    <p:sldId xmlns:r="http://schemas.openxmlformats.org/officeDocument/2006/relationships" id="266" r:id="R687c79ecc0984d80"/>
    <p:sldId xmlns:r="http://schemas.openxmlformats.org/officeDocument/2006/relationships" id="267" r:id="Rd6f0ea49d2fe4a21"/>
    <p:sldId xmlns:r="http://schemas.openxmlformats.org/officeDocument/2006/relationships" id="268" r:id="R2a0b56d521a6423f"/>
    <p:sldId xmlns:r="http://schemas.openxmlformats.org/officeDocument/2006/relationships" id="269" r:id="Rec0f386198a7442b"/>
    <p:sldId xmlns:r="http://schemas.openxmlformats.org/officeDocument/2006/relationships" id="270" r:id="Ra4a7ce1e751f42b4"/>
    <p:sldId xmlns:r="http://schemas.openxmlformats.org/officeDocument/2006/relationships" id="271" r:id="R732a3831e7544376"/>
    <p:sldId xmlns:r="http://schemas.openxmlformats.org/officeDocument/2006/relationships" id="272" r:id="R15af51be3afa4737"/>
    <p:sldId xmlns:r="http://schemas.openxmlformats.org/officeDocument/2006/relationships" id="273" r:id="Rac43ff52f677421f"/>
    <p:sldId xmlns:r="http://schemas.openxmlformats.org/officeDocument/2006/relationships" id="274" r:id="R95a2882f013249db"/>
    <p:sldId xmlns:r="http://schemas.openxmlformats.org/officeDocument/2006/relationships" id="275" r:id="Re5f1d896743c4e76"/>
    <p:sldId xmlns:r="http://schemas.openxmlformats.org/officeDocument/2006/relationships" id="276" r:id="Rd76fa0f1f1804678"/>
    <p:sldId xmlns:r="http://schemas.openxmlformats.org/officeDocument/2006/relationships" id="277" r:id="R56e0838c7daf4b7d"/>
    <p:sldId xmlns:r="http://schemas.openxmlformats.org/officeDocument/2006/relationships" id="278" r:id="Rccb96e3558054bea"/>
    <p:sldId xmlns:r="http://schemas.openxmlformats.org/officeDocument/2006/relationships" id="279" r:id="Ra3425cb860324f6b"/>
    <p:sldId xmlns:r="http://schemas.openxmlformats.org/officeDocument/2006/relationships" id="280" r:id="Rbcc56725639b46f1"/>
    <p:sldId xmlns:r="http://schemas.openxmlformats.org/officeDocument/2006/relationships" id="281" r:id="R132a71d35293468e"/>
    <p:sldId xmlns:r="http://schemas.openxmlformats.org/officeDocument/2006/relationships" id="282" r:id="R03a7908280b24b11"/>
    <p:sldId xmlns:r="http://schemas.openxmlformats.org/officeDocument/2006/relationships" id="283" r:id="R19178d73252b401d"/>
    <p:sldId xmlns:r="http://schemas.openxmlformats.org/officeDocument/2006/relationships" id="284" r:id="R77215c287d884bd2"/>
    <p:sldId xmlns:r="http://schemas.openxmlformats.org/officeDocument/2006/relationships" id="285" r:id="R5a6c5bdad09d4a32"/>
    <p:sldId xmlns:r="http://schemas.openxmlformats.org/officeDocument/2006/relationships" id="286" r:id="R3813d1e1e45a4671"/>
    <p:sldId xmlns:r="http://schemas.openxmlformats.org/officeDocument/2006/relationships" id="287" r:id="Rf28f39331ef84016"/>
    <p:sldId xmlns:r="http://schemas.openxmlformats.org/officeDocument/2006/relationships" id="288" r:id="R2d30e58df17247f5"/>
    <p:sldId xmlns:r="http://schemas.openxmlformats.org/officeDocument/2006/relationships" id="289" r:id="R46624e14e84a47c4"/>
    <p:sldId xmlns:r="http://schemas.openxmlformats.org/officeDocument/2006/relationships" id="290" r:id="Rbc6a1a1a93544a00"/>
    <p:sldId xmlns:r="http://schemas.openxmlformats.org/officeDocument/2006/relationships" id="291" r:id="R5539d0a1d63745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b0860cdb5642b1" /><Relationship Type="http://schemas.openxmlformats.org/officeDocument/2006/relationships/slideMaster" Target="/ppt/slideMasters/slideMaster1.xml" Id="Rb792df09af184cb7" /><Relationship Type="http://schemas.openxmlformats.org/officeDocument/2006/relationships/notesMaster" Target="/ppt/notesMasters/notesMaster1.xml" Id="R87d1e7e2431549da" /><Relationship Type="http://schemas.openxmlformats.org/officeDocument/2006/relationships/presProps" Target="/ppt/presProps.xml" Id="R87344d5d3f994672" /><Relationship Type="http://schemas.openxmlformats.org/officeDocument/2006/relationships/tableStyles" Target="/ppt/tableStyles.xml" Id="Rcbe877b772134e1c" /><Relationship Type="http://schemas.openxmlformats.org/officeDocument/2006/relationships/slide" Target="/ppt/slides/slide1.xml" Id="R4ebc20790dae4432" /><Relationship Type="http://schemas.openxmlformats.org/officeDocument/2006/relationships/slide" Target="/ppt/slides/slide2.xml" Id="R6f829d4a19344e86" /><Relationship Type="http://schemas.openxmlformats.org/officeDocument/2006/relationships/slide" Target="/ppt/slides/slide3.xml" Id="R003493011abe4d4d" /><Relationship Type="http://schemas.openxmlformats.org/officeDocument/2006/relationships/slide" Target="/ppt/slides/slide4.xml" Id="R73244d7a858d4729" /><Relationship Type="http://schemas.openxmlformats.org/officeDocument/2006/relationships/slide" Target="/ppt/slides/slide5.xml" Id="R4a54c474072c4742" /><Relationship Type="http://schemas.openxmlformats.org/officeDocument/2006/relationships/slide" Target="/ppt/slides/slide6.xml" Id="R325c490c615846b6" /><Relationship Type="http://schemas.openxmlformats.org/officeDocument/2006/relationships/slide" Target="/ppt/slides/slide7.xml" Id="Rb17fcf7734ce4a43" /><Relationship Type="http://schemas.openxmlformats.org/officeDocument/2006/relationships/slide" Target="/ppt/slides/slide8.xml" Id="Rdc00fa1e31144282" /><Relationship Type="http://schemas.openxmlformats.org/officeDocument/2006/relationships/slide" Target="/ppt/slides/slide9.xml" Id="R87d0cd58c55d4bc6" /><Relationship Type="http://schemas.openxmlformats.org/officeDocument/2006/relationships/slide" Target="/ppt/slides/slide10.xml" Id="R721beaef17d0483b" /><Relationship Type="http://schemas.openxmlformats.org/officeDocument/2006/relationships/slide" Target="/ppt/slides/slide11.xml" Id="R687c79ecc0984d80" /><Relationship Type="http://schemas.openxmlformats.org/officeDocument/2006/relationships/slide" Target="/ppt/slides/slide12.xml" Id="Rd6f0ea49d2fe4a21" /><Relationship Type="http://schemas.openxmlformats.org/officeDocument/2006/relationships/slide" Target="/ppt/slides/slide13.xml" Id="R2a0b56d521a6423f" /><Relationship Type="http://schemas.openxmlformats.org/officeDocument/2006/relationships/slide" Target="/ppt/slides/slide14.xml" Id="Rec0f386198a7442b" /><Relationship Type="http://schemas.openxmlformats.org/officeDocument/2006/relationships/slide" Target="/ppt/slides/slide15.xml" Id="Ra4a7ce1e751f42b4" /><Relationship Type="http://schemas.openxmlformats.org/officeDocument/2006/relationships/slide" Target="/ppt/slides/slide16.xml" Id="R732a3831e7544376" /><Relationship Type="http://schemas.openxmlformats.org/officeDocument/2006/relationships/slide" Target="/ppt/slides/slide17.xml" Id="R15af51be3afa4737" /><Relationship Type="http://schemas.openxmlformats.org/officeDocument/2006/relationships/slide" Target="/ppt/slides/slide18.xml" Id="Rac43ff52f677421f" /><Relationship Type="http://schemas.openxmlformats.org/officeDocument/2006/relationships/slide" Target="/ppt/slides/slide19.xml" Id="R95a2882f013249db" /><Relationship Type="http://schemas.openxmlformats.org/officeDocument/2006/relationships/slide" Target="/ppt/slides/slide20.xml" Id="Re5f1d896743c4e76" /><Relationship Type="http://schemas.openxmlformats.org/officeDocument/2006/relationships/slide" Target="/ppt/slides/slide21.xml" Id="Rd76fa0f1f1804678" /><Relationship Type="http://schemas.openxmlformats.org/officeDocument/2006/relationships/slide" Target="/ppt/slides/slide22.xml" Id="R56e0838c7daf4b7d" /><Relationship Type="http://schemas.openxmlformats.org/officeDocument/2006/relationships/slide" Target="/ppt/slides/slide23.xml" Id="Rccb96e3558054bea" /><Relationship Type="http://schemas.openxmlformats.org/officeDocument/2006/relationships/slide" Target="/ppt/slides/slide24.xml" Id="Ra3425cb860324f6b" /><Relationship Type="http://schemas.openxmlformats.org/officeDocument/2006/relationships/slide" Target="/ppt/slides/slide25.xml" Id="Rbcc56725639b46f1" /><Relationship Type="http://schemas.openxmlformats.org/officeDocument/2006/relationships/slide" Target="/ppt/slides/slide26.xml" Id="R132a71d35293468e" /><Relationship Type="http://schemas.openxmlformats.org/officeDocument/2006/relationships/slide" Target="/ppt/slides/slide27.xml" Id="R03a7908280b24b11" /><Relationship Type="http://schemas.openxmlformats.org/officeDocument/2006/relationships/slide" Target="/ppt/slides/slide28.xml" Id="R19178d73252b401d" /><Relationship Type="http://schemas.openxmlformats.org/officeDocument/2006/relationships/slide" Target="/ppt/slides/slide29.xml" Id="R77215c287d884bd2" /><Relationship Type="http://schemas.openxmlformats.org/officeDocument/2006/relationships/slide" Target="/ppt/slides/slide30.xml" Id="R5a6c5bdad09d4a32" /><Relationship Type="http://schemas.openxmlformats.org/officeDocument/2006/relationships/slide" Target="/ppt/slides/slide31.xml" Id="R3813d1e1e45a4671" /><Relationship Type="http://schemas.openxmlformats.org/officeDocument/2006/relationships/slide" Target="/ppt/slides/slide32.xml" Id="Rf28f39331ef84016" /><Relationship Type="http://schemas.openxmlformats.org/officeDocument/2006/relationships/slide" Target="/ppt/slides/slide33.xml" Id="R2d30e58df17247f5" /><Relationship Type="http://schemas.openxmlformats.org/officeDocument/2006/relationships/slide" Target="/ppt/slides/slide34.xml" Id="R46624e14e84a47c4" /><Relationship Type="http://schemas.openxmlformats.org/officeDocument/2006/relationships/slide" Target="/ppt/slides/slide35.xml" Id="Rbc6a1a1a93544a00" /><Relationship Type="http://schemas.openxmlformats.org/officeDocument/2006/relationships/slide" Target="/ppt/slides/slide36.xml" Id="R5539d0a1d63745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ed2d0d4d5c4f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e51ab14ad94222" /><Relationship Type="http://schemas.openxmlformats.org/officeDocument/2006/relationships/notesMaster" Target="/ppt/notesMasters/notesMaster1.xml" Id="R7c7bfa51eb9e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c9ef594ad4739" /><Relationship Type="http://schemas.openxmlformats.org/officeDocument/2006/relationships/notesMaster" Target="/ppt/notesMasters/notesMaster1.xml" Id="R3d54ea74251f4c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849651dbd246ec" /><Relationship Type="http://schemas.openxmlformats.org/officeDocument/2006/relationships/notesMaster" Target="/ppt/notesMasters/notesMaster1.xml" Id="R2a3aaaf965324f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65717d39094574" /><Relationship Type="http://schemas.openxmlformats.org/officeDocument/2006/relationships/notesMaster" Target="/ppt/notesMasters/notesMaster1.xml" Id="Ra56a3f51f8dd48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75830d49c420b" /><Relationship Type="http://schemas.openxmlformats.org/officeDocument/2006/relationships/notesMaster" Target="/ppt/notesMasters/notesMaster1.xml" Id="R9df9ae0433cf40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ee813d847f450e" /><Relationship Type="http://schemas.openxmlformats.org/officeDocument/2006/relationships/notesMaster" Target="/ppt/notesMasters/notesMaster1.xml" Id="Re2a75941118f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fc80ea0ab747dd" /><Relationship Type="http://schemas.openxmlformats.org/officeDocument/2006/relationships/notesMaster" Target="/ppt/notesMasters/notesMaster1.xml" Id="R1507588a3f584e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2ecfbc5a5543f7" /><Relationship Type="http://schemas.openxmlformats.org/officeDocument/2006/relationships/notesMaster" Target="/ppt/notesMasters/notesMaster1.xml" Id="R377a4f577c4e47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7b72f9328c41b0" /><Relationship Type="http://schemas.openxmlformats.org/officeDocument/2006/relationships/notesMaster" Target="/ppt/notesMasters/notesMaster1.xml" Id="R372030e3d6e448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a9f494cc3f4f26" /><Relationship Type="http://schemas.openxmlformats.org/officeDocument/2006/relationships/notesMaster" Target="/ppt/notesMasters/notesMaster1.xml" Id="Rcf133ca625a546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0ad83091a54bb0" /><Relationship Type="http://schemas.openxmlformats.org/officeDocument/2006/relationships/notesMaster" Target="/ppt/notesMasters/notesMaster1.xml" Id="R2b2581b35bb443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03bd24210c4951" /><Relationship Type="http://schemas.openxmlformats.org/officeDocument/2006/relationships/notesMaster" Target="/ppt/notesMasters/notesMaster1.xml" Id="R070e71723dbd46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29ad338d6d4bcf" /><Relationship Type="http://schemas.openxmlformats.org/officeDocument/2006/relationships/notesMaster" Target="/ppt/notesMasters/notesMaster1.xml" Id="R8c2584c783604a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2eb1dcfc99426c" /><Relationship Type="http://schemas.openxmlformats.org/officeDocument/2006/relationships/notesMaster" Target="/ppt/notesMasters/notesMaster1.xml" Id="R79d5b3cfe6ec42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52067b9c9e494b" /><Relationship Type="http://schemas.openxmlformats.org/officeDocument/2006/relationships/notesMaster" Target="/ppt/notesMasters/notesMaster1.xml" Id="Rd0ab613345f94f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706ecfe6bf4a18" /><Relationship Type="http://schemas.openxmlformats.org/officeDocument/2006/relationships/notesMaster" Target="/ppt/notesMasters/notesMaster1.xml" Id="R023b7ac5f5a84ca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9430599dfb4a37" /><Relationship Type="http://schemas.openxmlformats.org/officeDocument/2006/relationships/notesMaster" Target="/ppt/notesMasters/notesMaster1.xml" Id="Re97394f62ea549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afda311c624b89" /><Relationship Type="http://schemas.openxmlformats.org/officeDocument/2006/relationships/notesMaster" Target="/ppt/notesMasters/notesMaster1.xml" Id="R212fa0788e814a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4be73515b4d4ab1" /><Relationship Type="http://schemas.openxmlformats.org/officeDocument/2006/relationships/notesMaster" Target="/ppt/notesMasters/notesMaster1.xml" Id="R26f0405583dd43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435219559e457a" /><Relationship Type="http://schemas.openxmlformats.org/officeDocument/2006/relationships/notesMaster" Target="/ppt/notesMasters/notesMaster1.xml" Id="R428b18e25dfc447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3419ef0f2c04410" /><Relationship Type="http://schemas.openxmlformats.org/officeDocument/2006/relationships/notesMaster" Target="/ppt/notesMasters/notesMaster1.xml" Id="Re78c1262f9b841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e7f04fc6a3496a" /><Relationship Type="http://schemas.openxmlformats.org/officeDocument/2006/relationships/notesMaster" Target="/ppt/notesMasters/notesMaster1.xml" Id="R18ffa966eacd4fd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1ab2ff2e2394cbf" /><Relationship Type="http://schemas.openxmlformats.org/officeDocument/2006/relationships/notesMaster" Target="/ppt/notesMasters/notesMaster1.xml" Id="R72e76be9dd4649b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8f541da2224554" /><Relationship Type="http://schemas.openxmlformats.org/officeDocument/2006/relationships/notesMaster" Target="/ppt/notesMasters/notesMaster1.xml" Id="Rd29f47210ba34b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71af6f78e14f43" /><Relationship Type="http://schemas.openxmlformats.org/officeDocument/2006/relationships/notesMaster" Target="/ppt/notesMasters/notesMaster1.xml" Id="R62a1f5126a69448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87a6c550f81451f" /><Relationship Type="http://schemas.openxmlformats.org/officeDocument/2006/relationships/notesMaster" Target="/ppt/notesMasters/notesMaster1.xml" Id="R48119b79ca4f431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ee9186d3784eb8" /><Relationship Type="http://schemas.openxmlformats.org/officeDocument/2006/relationships/notesMaster" Target="/ppt/notesMasters/notesMaster1.xml" Id="R72c7958b2e2042a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f96c2504c0b4ccf" /><Relationship Type="http://schemas.openxmlformats.org/officeDocument/2006/relationships/notesMaster" Target="/ppt/notesMasters/notesMaster1.xml" Id="R5edfa724569a46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15402e91bf34323" /><Relationship Type="http://schemas.openxmlformats.org/officeDocument/2006/relationships/notesMaster" Target="/ppt/notesMasters/notesMaster1.xml" Id="Ra038111301bc454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dd4567bb2b4e12" /><Relationship Type="http://schemas.openxmlformats.org/officeDocument/2006/relationships/notesMaster" Target="/ppt/notesMasters/notesMaster1.xml" Id="Rb0712922e4494bb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6ad9c57ccdb4981" /><Relationship Type="http://schemas.openxmlformats.org/officeDocument/2006/relationships/notesMaster" Target="/ppt/notesMasters/notesMaster1.xml" Id="Rcdc6a886891c454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1db1645baef4152" /><Relationship Type="http://schemas.openxmlformats.org/officeDocument/2006/relationships/notesMaster" Target="/ppt/notesMasters/notesMaster1.xml" Id="R100d316c674e46e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9921feb4dc24ac2" /><Relationship Type="http://schemas.openxmlformats.org/officeDocument/2006/relationships/notesMaster" Target="/ppt/notesMasters/notesMaster1.xml" Id="R0e7d0fc2802147b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cf5f5eefef844cf" /><Relationship Type="http://schemas.openxmlformats.org/officeDocument/2006/relationships/notesMaster" Target="/ppt/notesMasters/notesMaster1.xml" Id="Rae0926a8c2b142a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4ab772d80dd495f" /><Relationship Type="http://schemas.openxmlformats.org/officeDocument/2006/relationships/notesMaster" Target="/ppt/notesMasters/notesMaster1.xml" Id="R1057829111b246c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8b62c34188d41c6" /><Relationship Type="http://schemas.openxmlformats.org/officeDocument/2006/relationships/notesMaster" Target="/ppt/notesMasters/notesMaster1.xml" Id="Rc19632bf514045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b3c2e957a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2c59048ad465a" /><Relationship Type="http://schemas.openxmlformats.org/officeDocument/2006/relationships/slideLayout" Target="/ppt/slideLayouts/slideLayout1.xml" Id="R2c6039114d3b48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6039114d3b48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4a847cacd4ab6" /><Relationship Type="http://schemas.openxmlformats.org/officeDocument/2006/relationships/notesSlide" Target="/ppt/notesSlides/notesSlide1.xml" Id="R1c4f4ebfe3de4a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18c3e181d46a4" /><Relationship Type="http://schemas.openxmlformats.org/officeDocument/2006/relationships/notesSlide" Target="/ppt/notesSlides/notesSlide2.xml" Id="Rf7cf74f5d22845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3b113c03849bb" /><Relationship Type="http://schemas.openxmlformats.org/officeDocument/2006/relationships/notesSlide" Target="/ppt/notesSlides/notesSlide3.xml" Id="Re39ee8a07eda4d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695d70f114d14" /><Relationship Type="http://schemas.openxmlformats.org/officeDocument/2006/relationships/notesSlide" Target="/ppt/notesSlides/notesSlide4.xml" Id="Rd55959f7a2214a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12c5db3694307" /><Relationship Type="http://schemas.openxmlformats.org/officeDocument/2006/relationships/notesSlide" Target="/ppt/notesSlides/notesSlide5.xml" Id="R6d6f79fe5c244e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8d701963144e3" /><Relationship Type="http://schemas.openxmlformats.org/officeDocument/2006/relationships/notesSlide" Target="/ppt/notesSlides/notesSlide6.xml" Id="R930aedddb6a64b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9c2e29b4942d4" /><Relationship Type="http://schemas.openxmlformats.org/officeDocument/2006/relationships/notesSlide" Target="/ppt/notesSlides/notesSlide7.xml" Id="R944feddb22294d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a2773e12b4de7" /><Relationship Type="http://schemas.openxmlformats.org/officeDocument/2006/relationships/notesSlide" Target="/ppt/notesSlides/notesSlide8.xml" Id="Rd60055adcb4745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84116579b42f9" /><Relationship Type="http://schemas.openxmlformats.org/officeDocument/2006/relationships/notesSlide" Target="/ppt/notesSlides/notesSlide9.xml" Id="Rf125606c71b042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c7eaea2944c51" /><Relationship Type="http://schemas.openxmlformats.org/officeDocument/2006/relationships/notesSlide" Target="/ppt/notesSlides/notesSlide10.xml" Id="R5db6a32d71764a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5e36c27f7444e" /><Relationship Type="http://schemas.openxmlformats.org/officeDocument/2006/relationships/notesSlide" Target="/ppt/notesSlides/notesSlide11.xml" Id="R12c53f2f1c094f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a5f24635d4750" /><Relationship Type="http://schemas.openxmlformats.org/officeDocument/2006/relationships/notesSlide" Target="/ppt/notesSlides/notesSlide12.xml" Id="R7cb93deb8e494e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d9f52cb4f437f" /><Relationship Type="http://schemas.openxmlformats.org/officeDocument/2006/relationships/notesSlide" Target="/ppt/notesSlides/notesSlide13.xml" Id="R38a8cb350d6f45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ede07046847d7" /><Relationship Type="http://schemas.openxmlformats.org/officeDocument/2006/relationships/notesSlide" Target="/ppt/notesSlides/notesSlide14.xml" Id="R1856d068249047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ebb7cfc1d4dd2" /><Relationship Type="http://schemas.openxmlformats.org/officeDocument/2006/relationships/notesSlide" Target="/ppt/notesSlides/notesSlide15.xml" Id="R4b3ed0e3011b43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aac05cbd04451" /><Relationship Type="http://schemas.openxmlformats.org/officeDocument/2006/relationships/notesSlide" Target="/ppt/notesSlides/notesSlide16.xml" Id="R191e9ed08d3447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0ee1eb3b2484d" /><Relationship Type="http://schemas.openxmlformats.org/officeDocument/2006/relationships/notesSlide" Target="/ppt/notesSlides/notesSlide17.xml" Id="R45981236423846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cf070697947cf" /><Relationship Type="http://schemas.openxmlformats.org/officeDocument/2006/relationships/notesSlide" Target="/ppt/notesSlides/notesSlide18.xml" Id="R1cc415e80dec425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2020ce0664d9f" /><Relationship Type="http://schemas.openxmlformats.org/officeDocument/2006/relationships/notesSlide" Target="/ppt/notesSlides/notesSlide19.xml" Id="Rfab26ca63ecb42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11314108045d0" /><Relationship Type="http://schemas.openxmlformats.org/officeDocument/2006/relationships/notesSlide" Target="/ppt/notesSlides/notesSlide20.xml" Id="Rab6c5dde934c4e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bc8b4a69946d2" /><Relationship Type="http://schemas.openxmlformats.org/officeDocument/2006/relationships/notesSlide" Target="/ppt/notesSlides/notesSlide21.xml" Id="R84432a664f084d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0cff9ad304c28" /><Relationship Type="http://schemas.openxmlformats.org/officeDocument/2006/relationships/notesSlide" Target="/ppt/notesSlides/notesSlide22.xml" Id="R87d455b0eb274c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77ba837354dc9" /><Relationship Type="http://schemas.openxmlformats.org/officeDocument/2006/relationships/notesSlide" Target="/ppt/notesSlides/notesSlide23.xml" Id="R2278b47b10514c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8e6d0ec9a47e1" /><Relationship Type="http://schemas.openxmlformats.org/officeDocument/2006/relationships/notesSlide" Target="/ppt/notesSlides/notesSlide24.xml" Id="R32913a9a7be842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2825854fa4116" /><Relationship Type="http://schemas.openxmlformats.org/officeDocument/2006/relationships/notesSlide" Target="/ppt/notesSlides/notesSlide25.xml" Id="Rb9c15c63bf424e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c6242df234933" /><Relationship Type="http://schemas.openxmlformats.org/officeDocument/2006/relationships/notesSlide" Target="/ppt/notesSlides/notesSlide26.xml" Id="Rb1102bf72b3947e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fa71c99c14a8d" /><Relationship Type="http://schemas.openxmlformats.org/officeDocument/2006/relationships/notesSlide" Target="/ppt/notesSlides/notesSlide27.xml" Id="Rd30b0c1b689648c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8f9ff85304141" /><Relationship Type="http://schemas.openxmlformats.org/officeDocument/2006/relationships/notesSlide" Target="/ppt/notesSlides/notesSlide28.xml" Id="R1b3f576d0489486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0f9c88eab4b36" /><Relationship Type="http://schemas.openxmlformats.org/officeDocument/2006/relationships/notesSlide" Target="/ppt/notesSlides/notesSlide29.xml" Id="Rda2f7cf731e94d6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d42d2bd4e487c" /><Relationship Type="http://schemas.openxmlformats.org/officeDocument/2006/relationships/notesSlide" Target="/ppt/notesSlides/notesSlide30.xml" Id="R9ed0052ae0e54d6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8639c261a4bee" /><Relationship Type="http://schemas.openxmlformats.org/officeDocument/2006/relationships/notesSlide" Target="/ppt/notesSlides/notesSlide31.xml" Id="R9ee6e2f963de45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f149bc5b54b4e" /><Relationship Type="http://schemas.openxmlformats.org/officeDocument/2006/relationships/notesSlide" Target="/ppt/notesSlides/notesSlide32.xml" Id="R760a35ed7c46400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e94660a2a46c2" /><Relationship Type="http://schemas.openxmlformats.org/officeDocument/2006/relationships/notesSlide" Target="/ppt/notesSlides/notesSlide33.xml" Id="R16f6a94906c3425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dc684046041d9" /><Relationship Type="http://schemas.openxmlformats.org/officeDocument/2006/relationships/notesSlide" Target="/ppt/notesSlides/notesSlide34.xml" Id="R29e139db8b4c444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30cd355404b26" /><Relationship Type="http://schemas.openxmlformats.org/officeDocument/2006/relationships/notesSlide" Target="/ppt/notesSlides/notesSlide35.xml" Id="R4b286a4b6f9f4e3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5c010c0f48ab" /><Relationship Type="http://schemas.openxmlformats.org/officeDocument/2006/relationships/notesSlide" Target="/ppt/notesSlides/notesSlide36.xml" Id="Rcdefc8e4427846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C2BD4E-2DFF-495C-907B-36A1EAEF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B96A3"/>
                </a:solidFill>
              </a:defRPr>
            </a:pPr>
            <a:r>
              <a:rPr sz="900" b="0">
                <a:solidFill>
                  <a:srgbClr val="8B96A3"/>
                </a:solidFill>
              </a:rPr>
              <a:t>Thiên Nhật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4EFFD-2DDA-4EE3-ABC8-044D2650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D2733"/>
                </a:solidFill>
              </a:defRPr>
            </a:pPr>
            <a:r>
              <a:rPr sz="3000" b="0">
                <a:solidFill>
                  <a:srgbClr val="1D2733"/>
                </a:solidFill>
              </a:rPr>
              <a:t>Phần mềm</a:t>
            </a:r>
          </a:p>
          <a:p xmlns:a="http://schemas.openxmlformats.org/drawingml/2006/main">
            <a:pPr algn="l">
              <a:defRPr sz="3000" b="0">
                <a:solidFill>
                  <a:srgbClr val="1D2733"/>
                </a:solidFill>
              </a:defRPr>
            </a:pPr>
            <a:r>
              <a:rPr sz="3000" b="0">
                <a:solidFill>
                  <a:srgbClr val="1D2733"/>
                </a:solidFill>
              </a:rPr>
              <a:t>Mua hàng &amp; Công nợ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C8287-0F0E-4495-90A4-C72D203D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D"/>
                </a:solidFill>
              </a:defRPr>
            </a:pPr>
            <a:r>
              <a:rPr sz="1350" b="0">
                <a:solidFill>
                  <a:srgbClr val="64707D"/>
                </a:solidFill>
              </a:rPr>
              <a:t>Tài liệu trao đổi với lãnh đạo</a:t>
            </a:r>
          </a:p>
          <a:p xmlns:a="http://schemas.openxmlformats.org/drawingml/2006/main">
            <a:pPr algn="l">
              <a:defRPr sz="1350" b="0">
                <a:solidFill>
                  <a:srgbClr val="64707D"/>
                </a:solidFill>
              </a:defRPr>
            </a:pPr>
            <a:r>
              <a:rPr sz="1350" b="0">
                <a:solidFill>
                  <a:srgbClr val="64707D"/>
                </a:solidFill>
              </a:rPr>
              <a:t>Mục tiêu: thống nhất bước thử có kiểm soát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B444D-963C-49D5-9C0D-7073C778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6AED38-E2C4-417C-9A9E-A1B9BCE4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BC263-053F-4CBF-BDCD-E4BB6CB2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289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94A7A-DC71-45FB-9D79-EB7F5A25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12573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D2733"/>
                </a:solidFill>
              </a:defRPr>
            </a:pPr>
            <a:r>
              <a:rPr sz="1050" b="0">
                <a:solidFill>
                  <a:srgbClr val="1D2733"/>
                </a:solidFill>
              </a:rPr>
              <a:t>Hiện trạng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5A4F0-FE91-463F-81E2-94985C10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33625"/>
            <a:ext cx="12573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D2733"/>
                </a:solidFill>
              </a:defRPr>
            </a:pPr>
            <a:r>
              <a:rPr sz="1050" b="0">
                <a:solidFill>
                  <a:srgbClr val="1D2733"/>
                </a:solidFill>
              </a:rPr>
              <a:t>Vấn đề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D2859-308B-4777-B776-873EE8B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33625"/>
            <a:ext cx="12573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D2733"/>
                </a:solidFill>
              </a:defRPr>
            </a:pPr>
            <a:r>
              <a:rPr sz="1050" b="0">
                <a:solidFill>
                  <a:srgbClr val="1D2733"/>
                </a:solidFill>
              </a:rPr>
              <a:t>Giải pháp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C0A62-FAE2-4B20-8D24-2736DCC6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33625"/>
            <a:ext cx="12573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4E77"/>
                </a:solidFill>
              </a:defRPr>
            </a:pPr>
            <a:r>
              <a:rPr sz="1050" b="0">
                <a:solidFill>
                  <a:srgbClr val="184E77"/>
                </a:solidFill>
              </a:rPr>
              <a:t>Bước tiếp theo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66259-20EB-457F-BC09-A5D59D55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Deck này không nhằm thuyết phục bằng khẩu hiệu.</a:t>
            </a:r>
          </a:p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Mỗi phần chỉ trả lời một câu hỏi vận hành.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FC85F-11ED-4C83-A13B-9B3F188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MỞ ĐẦU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2B56-1CDE-4009-881F-AA0AC98F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2A439-5001-400B-95F6-42B59FA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0341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C88DB-F5C4-439F-8D18-83C82AF7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MỤC LỤC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74C7A-8EF2-41B6-9DE1-F254E894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9753F-075A-4553-8AE6-B6F65541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901F0-62BE-4319-A344-3AFD3526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Nội dung đi từ hiện trạng đến quyết định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E856A-F531-44B1-A587-FF961B0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Bốn phần này giúp giữ cuộc họp đi theo thứ tự: quan sát, xác định vấn đề, chọn cách xử lý, rồi chốt bước thử.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471BF-5F58-48E7-801B-72DA163D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905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E7BC9-A54D-4097-8AE1-C6C40B4B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09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733"/>
                </a:solidFill>
              </a:defRPr>
            </a:pPr>
            <a:r>
              <a:rPr sz="1725" b="1">
                <a:solidFill>
                  <a:srgbClr val="1D2733"/>
                </a:solidFill>
              </a:rPr>
              <a:t>Hiện trạng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5124C-838D-4FD1-8E0B-77F2CDB6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336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Đơn mua hàng đang đi qua chat, chứng từ rời và nhập liệu lại.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A05C0-FBD9-4557-B26F-7CF873B2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47925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2C75A-EBE5-4260-B2F4-62786CEB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5905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55CE7-1AA6-49ED-8A37-206FE9C9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733"/>
                </a:solidFill>
              </a:defRPr>
            </a:pPr>
            <a:r>
              <a:rPr sz="1725" b="1">
                <a:solidFill>
                  <a:srgbClr val="1D2733"/>
                </a:solidFill>
              </a:rPr>
              <a:t>Vấn đề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1684D-7F98-4B4A-B702-97C265D6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528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Truy vết, dữ liệu, mẫu tin nhắn, bằng chứng và trách nhiệm bị phân tán.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14DBD-1825-4FFC-A65B-6D7721AE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67075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743CF-9C94-4907-AAC9-8FD683C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5905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7855C-81F6-4774-BB22-54B35465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48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733"/>
                </a:solidFill>
              </a:defRPr>
            </a:pPr>
            <a:r>
              <a:rPr sz="1725" b="1">
                <a:solidFill>
                  <a:srgbClr val="1D2733"/>
                </a:solidFill>
              </a:rPr>
              <a:t>Giải pháp đề xuất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40AFF-1F9D-4E5A-B35A-CE669384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719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App chuẩn hóa luồng DXMH → nghiệm thu → DXTT → chi tiền → công nợ.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D20502-0D12-4992-97D9-8386504D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86225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41E61-9C04-486D-AB5D-DD54C81A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5905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4E77"/>
                </a:solidFill>
              </a:defRPr>
            </a:pPr>
            <a:r>
              <a:rPr sz="1275" b="1">
                <a:solidFill>
                  <a:srgbClr val="184E77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60A7E-E6DB-40C5-8A49-C218BAD1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67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733"/>
                </a:solidFill>
              </a:defRPr>
            </a:pPr>
            <a:r>
              <a:rPr sz="1725" b="1">
                <a:solidFill>
                  <a:srgbClr val="1D2733"/>
                </a:solidFill>
              </a:rPr>
              <a:t>Bước tiếp theo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AAA10-ACA2-4AD4-A23D-79DDEED3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911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Xin phê duyệt pilot 2 tuần, có phạm vi và tiêu chí rõ.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6EA4A-D20B-431B-B6B1-4B7E1823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05375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4107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2949ED-8E0B-483E-B0FF-6D469A51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578EE-D9E4-4F11-A30B-621A415E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FA5FD-74E2-4977-BC38-9F91DC7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DF175-4554-4400-941A-EC04D63C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Hôm nay cần chốt một bước thử có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76E99-0BB5-4F78-8D37-8AA9DF93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Không cần quyết định triển khai toàn bộ. Cần quyết định có cho kiểm chứng một luồng thường kỳ bằng app hay không.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D809F-D96F-4CBC-98CA-D357B024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051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8320A-3DC8-4785-8E16-95F9B28C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051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F574F-AF01-486F-B64B-F3872A2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051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A0CEC-A20D-4EBE-8F31-0995F5BB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Chọn phạm vi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CB48E-0CEB-44F3-9F00-7D292511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Chọn người phụ trách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B4FE4-BB38-443B-900A-5DFAF1CA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4E77"/>
                </a:solidFill>
              </a:defRPr>
            </a:pPr>
            <a:r>
              <a:rPr sz="1200" b="0">
                <a:solidFill>
                  <a:srgbClr val="184E77"/>
                </a:solidFill>
              </a:rPr>
              <a:t>Chạy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0F9F9-2A57-42CF-B9D3-C96DA4B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16192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Báo cáo cuối kỳ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E0D68-E8EB-4313-8701-24C72AC2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733"/>
                </a:solidFill>
              </a:defRPr>
            </a:pPr>
            <a:r>
              <a:rPr sz="1500" b="1">
                <a:solidFill>
                  <a:srgbClr val="1D2733"/>
                </a:solidFill>
              </a:rPr>
              <a:t>Kết quả mong muốn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005B8-9D0C-4F6F-8CDB-D3807B6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862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D"/>
                </a:solidFill>
              </a:defRPr>
            </a:pPr>
            <a:r>
              <a:rPr sz="1350" b="0">
                <a:solidFill>
                  <a:srgbClr val="64707D"/>
                </a:solidFill>
              </a:rPr>
              <a:t>Lãnh đạo đồng ý một pilot 2 tuần với: phạm vi, nguyên tắc phê duyệt, cách dùng Viber dự phòng, người phụ trách và tiêu chí báo cáo.</a:t>
            </a:r>
          </a:p>
        </p:txBody>
      </p:sp>
    </p:spTree>
    <p:extLst>
      <p:ext uri="{BB962C8B-B14F-4D97-AF65-F5344CB8AC3E}">
        <p14:creationId xmlns:p14="http://schemas.microsoft.com/office/powerpoint/2010/main" val="78789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D952D-6AD9-4F3D-AC25-23416672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01 HIỆN TRẠNG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2BF01-1444-4B79-ABD3-502EE5CD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F1333-DB89-4A9D-A4DA-661930A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B8F83-7E8C-49B6-9F5C-42126615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96A3"/>
                </a:solidFill>
              </a:defRPr>
            </a:pPr>
            <a:r>
              <a:rPr sz="900" b="1">
                <a:solidFill>
                  <a:srgbClr val="8B96A3"/>
                </a:solidFill>
              </a:rPr>
              <a:t>01 HIỆN TRẠNG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594F8-9EB6-455F-9F3D-7BB9396D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D2733"/>
                </a:solidFill>
              </a:defRPr>
            </a:pPr>
            <a:r>
              <a:rPr sz="3150" b="0">
                <a:solidFill>
                  <a:srgbClr val="1D2733"/>
                </a:solidFill>
              </a:rPr>
              <a:t>Ghi nhận đúng hiện trạng trước khi đổi quy trình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58B0B-908B-4341-829B-4C082F96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Hiện trạng không sai vì dùng Viber. Vấn đề là toàn bộ trạng thái vận hành đang phụ thuộc vào nhiều nơi rời nhau.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9A083-4BAB-49C2-94D3-7A80A8A9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44577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53A173-0BE2-44AA-BD5E-B7303421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HIỆN TRẠNG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340CA-E46C-41C9-A2AD-A99F064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15D3E-89C2-40EB-BB99-D46ABE4C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069F0-4877-4EA6-8476-2AA1D06A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Đơn mua hàng hiện đi qua nhiều nơi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F0FDB-9D78-4549-84C1-40CD7653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Khi một yêu cầu sống trong chat, chứng từ giấy và file kế toán, không có một nguồn trạng thái duy nhất.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F8F20-79FD-4E07-8B02-B2E2ABE2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21907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Viber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xin / nhắc / duyệt nhanh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F33D3-AB4E-4CAA-A4C5-5983FF9A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28875"/>
            <a:ext cx="21907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Chứng từ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VAT / BBGN / phiếu cân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696C2-6834-4EE2-8B14-20B9B874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21907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Kế toán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nhập lại / đối soát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41B3D-39DA-4C00-9FE9-5A9BF89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17145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4E77"/>
                </a:solidFill>
              </a:defRPr>
            </a:pPr>
            <a:r>
              <a:rPr sz="1275" b="0">
                <a:solidFill>
                  <a:srgbClr val="184E77"/>
                </a:solidFill>
              </a:rPr>
              <a:t>Lãnh đạo</a:t>
            </a:r>
          </a:p>
          <a:p xmlns:a="http://schemas.openxmlformats.org/drawingml/2006/main">
            <a:pPr algn="ctr">
              <a:defRPr sz="1275" b="0">
                <a:solidFill>
                  <a:srgbClr val="184E77"/>
                </a:solidFill>
              </a:defRPr>
            </a:pPr>
            <a:r>
              <a:rPr sz="1275" b="0">
                <a:solidFill>
                  <a:srgbClr val="184E77"/>
                </a:solidFill>
              </a:rPr>
              <a:t>hỏi trạng thái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A035D-D057-4202-BBFA-1831E742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2CB49-DCEC-4847-A682-5BDD1033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8327B-AA95-4B36-95A1-2146A76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059CD-ED61-4CDA-BAB9-75031A85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7D"/>
                </a:solidFill>
              </a:defRPr>
            </a:pPr>
            <a:r>
              <a:rPr sz="1500" b="0">
                <a:solidFill>
                  <a:srgbClr val="64707D"/>
                </a:solidFill>
              </a:rPr>
              <a:t>Kết luận vận hành: tốc độ xử lý có thể nhanh, nhưng dữ liệu và trách nhiệm không tự gom lại thành hồ sơ.</a:t>
            </a:r>
          </a:p>
        </p:txBody>
      </p:sp>
    </p:spTree>
    <p:extLst>
      <p:ext uri="{BB962C8B-B14F-4D97-AF65-F5344CB8AC3E}">
        <p14:creationId xmlns:p14="http://schemas.microsoft.com/office/powerpoint/2010/main" val="74825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99B13-0C29-4127-BDCD-0A9B76F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HIỆN TRẠNG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A500A-0A42-4ECD-91ED-62F56D1B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B110E-C63F-45B8-A057-0C147AA1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2DBC3-FED0-4908-9191-350AF5A3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Đưa trạng thái công việc ra khỏi nhóm chat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93EBF-61D5-4739-A047-515653D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Nếu muốn quản lý được việc đang kẹt ở đâu, trạng thái không nên chỉ nằm trong tin nhắn.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C7092-7127-4518-A507-791CD36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095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D2733"/>
                </a:solidFill>
              </a:defRPr>
            </a:pPr>
            <a:r>
              <a:rPr sz="1238" b="0">
                <a:solidFill>
                  <a:srgbClr val="1D2733"/>
                </a:solidFill>
              </a:rPr>
              <a:t>Đơn đang ở đâu?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34411-CC0E-493D-8C03-58AA85AB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95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84E77"/>
                </a:solidFill>
              </a:defRPr>
            </a:pPr>
            <a:r>
              <a:rPr sz="1238" b="0">
                <a:solidFill>
                  <a:srgbClr val="184E77"/>
                </a:solidFill>
              </a:rPr>
              <a:t>Ai giữ bước tiếp theo?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FE3B6-C393-44B4-8BEE-0DE38F5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2095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D2733"/>
                </a:solidFill>
              </a:defRPr>
            </a:pPr>
            <a:r>
              <a:rPr sz="1238" b="0">
                <a:solidFill>
                  <a:srgbClr val="1D2733"/>
                </a:solidFill>
              </a:rPr>
              <a:t>Hồ sơ đã đủ chưa?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65ED8-FC28-40DC-B4E6-C52829CF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095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D2733"/>
                </a:solidFill>
              </a:defRPr>
            </a:pPr>
            <a:r>
              <a:rPr sz="1238" b="0">
                <a:solidFill>
                  <a:srgbClr val="1D2733"/>
                </a:solidFill>
              </a:rPr>
              <a:t>Đã chi tiền chưa?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200E6-D97B-4D33-B077-73773686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05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Hành động cần có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9BE0E-3DB3-4708-9AEF-0EF3DD16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053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D"/>
                </a:solidFill>
              </a:defRPr>
            </a:pPr>
            <a:r>
              <a:rPr sz="1350" b="0">
                <a:solidFill>
                  <a:srgbClr val="64707D"/>
                </a:solidFill>
              </a:rPr>
              <a:t>Tạo một nơi mà lãnh đạo và từng vai trò có thể tự xem trạng thái mà không phải hỏi lại nhiều người.</a:t>
            </a:r>
          </a:p>
        </p:txBody>
      </p:sp>
    </p:spTree>
    <p:extLst>
      <p:ext uri="{BB962C8B-B14F-4D97-AF65-F5344CB8AC3E}">
        <p14:creationId xmlns:p14="http://schemas.microsoft.com/office/powerpoint/2010/main" val="17606646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E72579-676C-4FC0-9780-EAE4F430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HIỆN TRẠNG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C5F41-CF8A-4921-88DA-B3F2418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F4917-6E2F-448E-BAE0-5C71109C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D279C-6393-4366-8D32-3EE93E9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Ghi dữ liệu một lần, đúng mẫu, đúng nơi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99A33-9AE7-4AED-A34F-EBB8A03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Tin nhắn tự do giúp linh hoạt, nhưng không tạo dữ liệu sạch để phân tích hoặc đối chiếu sau này.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34096-2404-48D8-BD6F-4587AE3C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857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9CA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Tin nhắn tự do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nội dung mỗi lần khác nhau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7CF89-9271-498E-BCC0-640BA5F0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33625"/>
            <a:ext cx="2857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CFE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Form chuẩn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trường bắt buộc và format rõ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67121-4C6F-4553-94C8-B88AC0CB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1845C-0FD4-45BB-B179-0177DDF6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288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733"/>
                </a:solidFill>
              </a:defRPr>
            </a:pPr>
            <a:r>
              <a:rPr sz="1425" b="1">
                <a:solidFill>
                  <a:srgbClr val="1D2733"/>
                </a:solidFill>
              </a:rPr>
              <a:t>Dữ liệu có cấu trúc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47E17-ADD6-4D0C-BBD0-6029791D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mặt hàng · NCC · số lượng · VAT · chứng từ · người duyệt · trạng thái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3D0E6-C1B3-40B9-8E9C-F373A76D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86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7D"/>
                </a:solidFill>
              </a:defRPr>
            </a:pPr>
            <a:r>
              <a:rPr sz="1500" b="0">
                <a:solidFill>
                  <a:srgbClr val="64707D"/>
                </a:solidFill>
              </a:rPr>
              <a:t>Hành động cần có: chuẩn hóa điểm nhập đầu tiên thay vì sửa dữ liệu ở cuối quy trình.</a:t>
            </a:r>
          </a:p>
        </p:txBody>
      </p:sp>
    </p:spTree>
    <p:extLst>
      <p:ext uri="{BB962C8B-B14F-4D97-AF65-F5344CB8AC3E}">
        <p14:creationId xmlns:p14="http://schemas.microsoft.com/office/powerpoint/2010/main" val="1468711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90EE8-2DD7-476C-B47B-18B1BD6D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HIỆN TRẠNG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7792F-44F8-4AD8-907C-58CFA028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AE056-76B2-4FF6-AB25-A67E552C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E6976-AC4B-4EB5-B1F4-55939DCC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Gom bằng chứng theo hồ sơ để lãnh đạo tự kiểm 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F55F4-2A86-431E-9AEF-FE947037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Bằng chứng mua hàng nên đi cùng đề xuất, quyết định duyệt và chứng từ chi tiền.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E8817-C689-4184-A4B3-E3B624C6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95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Báo giá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0AA65-CCFC-473C-9D2E-70952D66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81250"/>
            <a:ext cx="95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VAT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337C5-5CB5-4173-AC07-64050F22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95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BBGN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21D9C-1D62-4419-ABB6-58893C64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95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Ảnh vật tư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17DF5-D0E8-46C6-82DE-36DA32DD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952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Phiếu 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52C13-EFF4-4294-A277-08589AA9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2857500" cy="11620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4E77"/>
                </a:solidFill>
              </a:defRPr>
            </a:pPr>
            <a:r>
              <a:rPr sz="1500" b="1">
                <a:solidFill>
                  <a:srgbClr val="184E77"/>
                </a:solidFill>
              </a:rPr>
              <a:t>Một hồ sơ mua hàng</a:t>
            </a:r>
          </a:p>
          <a:p xmlns:a="http://schemas.openxmlformats.org/drawingml/2006/main">
            <a:pPr algn="ctr">
              <a:defRPr sz="1500" b="1">
                <a:solidFill>
                  <a:srgbClr val="184E77"/>
                </a:solidFill>
              </a:defRPr>
            </a:pPr>
            <a:r>
              <a:rPr sz="1500" b="1">
                <a:solidFill>
                  <a:srgbClr val="184E77"/>
                </a:solidFill>
              </a:rPr>
              <a:t>có thể mở lại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7ED32-638B-4C27-A5D3-3898F365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A74BD-7C03-457F-9E66-13FD76CC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9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Hành động cần có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38579-3B2F-4DF0-98ED-648F705C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D"/>
                </a:solidFill>
              </a:defRPr>
            </a:pPr>
            <a:r>
              <a:rPr sz="1350" b="0">
                <a:solidFill>
                  <a:srgbClr val="64707D"/>
                </a:solidFill>
              </a:rPr>
              <a:t>Không chỉ lưu tệp. Cần gắn tệp vào đúng bước: tạo đơn, nghiệm thu, duyệt thanh toán, chi tiền.</a:t>
            </a:r>
          </a:p>
        </p:txBody>
      </p:sp>
    </p:spTree>
    <p:extLst>
      <p:ext uri="{BB962C8B-B14F-4D97-AF65-F5344CB8AC3E}">
        <p14:creationId xmlns:p14="http://schemas.microsoft.com/office/powerpoint/2010/main" val="1506859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77AFEA-6679-44A8-8B64-775B0A87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02 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939FA-AACD-491A-BB7C-FC74DADE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416A-4992-43D1-9B0B-96A97298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CF6BE-C8E6-4217-BBE4-94AE1F2A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96A3"/>
                </a:solidFill>
              </a:defRPr>
            </a:pPr>
            <a:r>
              <a:rPr sz="900" b="1">
                <a:solidFill>
                  <a:srgbClr val="8B96A3"/>
                </a:solidFill>
              </a:rPr>
              <a:t>02 VẤN ĐỀ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3021B-95EE-4580-A7CD-6BF14C02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D2733"/>
                </a:solidFill>
              </a:defRPr>
            </a:pPr>
            <a:r>
              <a:rPr sz="3150" b="0">
                <a:solidFill>
                  <a:srgbClr val="1D2733"/>
                </a:solidFill>
              </a:rPr>
              <a:t>Xác định vấn đề theo từng chốt vận hành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FD79E-2063-4624-91DE-D81A9DBD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Vấn đề chính không phải là thiếu người làm. Vấn đề là mỗi bộ phận phải tự vá khoảng trống thông tin.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E34D2-A126-4526-AEA6-5E5CCB2D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03674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5E0DE-1D1E-4CAB-A803-5EC1CDF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27175-D496-4E97-A461-D007C5C0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C1DA4-015B-4F87-8900-C43C209A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A3B85-0247-4A4E-A9F1-F7190A7B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Năm khoảng trống cần xử lý trước khi mở rộng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D088D-DCD3-4B12-8868-09748E46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Mỗi khoảng trống tạo thêm việc hỏi lại, đối soát lại hoặc quyết định thiếu bối cảnh.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82B23-3201-421B-807B-485B6038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76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4E77"/>
                </a:solidFill>
              </a:defRPr>
            </a:pPr>
            <a:r>
              <a:rPr sz="1200" b="1">
                <a:solidFill>
                  <a:srgbClr val="184E77"/>
                </a:solidFill>
              </a:rPr>
              <a:t>Truy vết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55BAE-8A12-4FC0-B72E-53319EC7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khó thấy ai đã làm gì, lúc nào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11C0E-0931-4EC8-8D02-67E029DE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1676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733"/>
                </a:solidFill>
              </a:defRPr>
            </a:pPr>
            <a:r>
              <a:rPr sz="1200" b="1">
                <a:solidFill>
                  <a:srgbClr val="1D2733"/>
                </a:solidFill>
              </a:rPr>
              <a:t>Lưu trữ dữ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F2E68-A236-43BB-90E1-C699E70B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194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khó tổng hợp và phân tích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CBA56-69D7-4592-95B2-679034D6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1676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733"/>
                </a:solidFill>
              </a:defRPr>
            </a:pPr>
            <a:r>
              <a:rPr sz="1200" b="1">
                <a:solidFill>
                  <a:srgbClr val="1D2733"/>
                </a:solidFill>
              </a:rPr>
              <a:t>Mẫu thông tin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1522E-B4A7-4D49-9778-9DDBC5EB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194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người nhập dễ thiếu trường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039D5-5D2B-439A-AD0B-ACB40CC9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1676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733"/>
                </a:solidFill>
              </a:defRPr>
            </a:pPr>
            <a:r>
              <a:rPr sz="1200" b="1">
                <a:solidFill>
                  <a:srgbClr val="1D2733"/>
                </a:solidFill>
              </a:rPr>
              <a:t>Nhập lại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EA035-1D2D-45B2-AF4C-A79CE62A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194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dễ lệch số, lệch trạng thái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30E9A-525F-44D6-8132-0E3C1ACF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16764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733"/>
                </a:solidFill>
              </a:defRPr>
            </a:pPr>
            <a:r>
              <a:rPr sz="1200" b="1">
                <a:solidFill>
                  <a:srgbClr val="1D2733"/>
                </a:solidFill>
              </a:rPr>
              <a:t>Bằng chứng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1F9E2-9106-4B1E-ADDE-8E5CBA4D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194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khó tìm đủ hồ sơ khi duyệt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9BE8C-7509-4094-B6B3-8282AEEF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Hành động: chuyển các khoảng trống này thành yêu cầu sản phẩm cụ thể, không xử lý bằng nhắc nhở chung.</a:t>
            </a:r>
          </a:p>
        </p:txBody>
      </p:sp>
    </p:spTree>
    <p:extLst>
      <p:ext uri="{BB962C8B-B14F-4D97-AF65-F5344CB8AC3E}">
        <p14:creationId xmlns:p14="http://schemas.microsoft.com/office/powerpoint/2010/main" val="5232690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95ECE6-811A-46FC-BC51-CA769CD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VẤN ĐỀ THEO BỘ PHẬN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46808-5893-44C6-808E-E409F066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AA0A2-AB1D-453F-8074-A19216A7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DEF3D-7B01-4E08-B87B-5DA05180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Giảm câu hỏi cho mua hàng bằng mẫu nhập thống nhất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2971A-B992-409B-B181-A70303F8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NVMH không nên phải nhớ mỗi lần cần gửi đủ nội dung gì trong Viber.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24178-CAAB-4E60-B592-4148486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33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BB361-540F-4ECA-A094-B9865D5E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Bộ phận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5F371-FE80-4250-8681-21F8531E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Vấn đề vận hành cần giảm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D08C5-9DB5-4AA4-9A43-FE59DCDE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933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09CAD-90D7-49E4-A5B1-EC2C2614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956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NVMH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47016-2FB5-42CA-B6ED-2B0266EF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Thiếu trường thông tin, thiếu tệp, phải giải thích lại nhiều lần.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28D2B-7AE1-4855-B013-4CCF9C7C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33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07077-0176-407D-80B4-7BE4ABE4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623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Trưởng bộ phận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3AAA4-8CC6-401A-A8DC-78CCEA67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623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Khó xác nhận nhu cầu nếu bối cảnh nằm trong nhiều tin nhắn.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08F5E-05E4-4AE7-AC74-F26D3373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61657-4969-4EFF-A54C-C992A8D1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Lãnh đạo duyệt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B20B9-3827-4E84-AE9F-2F275D6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Khó xem nhanh NCC, giá, VAT, báo giá và lý do mua.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0EC8D-CC99-45BF-838C-9222A0A6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F4170-7ECE-43FF-8205-21709C13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KTTH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85345-DBD9-4DBE-830D-47B38C4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Phải kiểm tra lại dữ liệu trước khi đưa vào công nợ.</a:t>
            </a:r>
          </a:p>
        </p:txBody>
      </p:sp>
    </p:spTree>
    <p:extLst>
      <p:ext uri="{BB962C8B-B14F-4D97-AF65-F5344CB8AC3E}">
        <p14:creationId xmlns:p14="http://schemas.microsoft.com/office/powerpoint/2010/main" val="1729629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E85C69-49BD-4455-8875-3AD4FAFC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VẤN ĐỀ THEO BỘ PHẬN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9A7AC-18FF-40D8-B100-9418403F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F4621-A603-409D-A43F-B91778C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2B813-7785-4D59-81C8-DD22D221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Giảm đối soát lại cho kế toán bằng dữ liệu có cấu trúc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3EC28-E6DA-4769-BFBE-3B3F741E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Kế toán không nên phải nhập lại từ chat nếu dữ liệu đã được tạo đúng ngay từ đầu.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434CE-45D7-4E73-A089-C7F57F3A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381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9CA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D2733"/>
                </a:solidFill>
              </a:defRPr>
            </a:pPr>
            <a:r>
              <a:rPr sz="1350" b="0">
                <a:solidFill>
                  <a:srgbClr val="1D2733"/>
                </a:solidFill>
              </a:rPr>
              <a:t>Chat / tệp rời</a:t>
            </a:r>
          </a:p>
          <a:p xmlns:a="http://schemas.openxmlformats.org/drawingml/2006/main">
            <a:pPr algn="ctr">
              <a:defRPr sz="1350" b="0">
                <a:solidFill>
                  <a:srgbClr val="1D2733"/>
                </a:solidFill>
              </a:defRPr>
            </a:pPr>
            <a:r>
              <a:rPr sz="1350" b="0">
                <a:solidFill>
                  <a:srgbClr val="1D2733"/>
                </a:solidFill>
              </a:rPr>
              <a:t>nhập lại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391B1-FBCB-4C04-8100-66F8F81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381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4E77"/>
                </a:solidFill>
              </a:defRPr>
            </a:pPr>
            <a:r>
              <a:rPr sz="1350" b="0">
                <a:solidFill>
                  <a:srgbClr val="184E77"/>
                </a:solidFill>
              </a:rPr>
              <a:t>Dữ liệu app</a:t>
            </a:r>
          </a:p>
          <a:p xmlns:a="http://schemas.openxmlformats.org/drawingml/2006/main">
            <a:pPr algn="ctr">
              <a:defRPr sz="1350" b="0">
                <a:solidFill>
                  <a:srgbClr val="184E77"/>
                </a:solidFill>
              </a:defRPr>
            </a:pPr>
            <a:r>
              <a:rPr sz="1350" b="0">
                <a:solidFill>
                  <a:srgbClr val="184E77"/>
                </a:solidFill>
              </a:rPr>
              <a:t>đã có mã và trạng thái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26A05-39A3-4698-854F-49ED3BD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3812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CFE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D2733"/>
                </a:solidFill>
              </a:defRPr>
            </a:pPr>
            <a:r>
              <a:rPr sz="1350" b="0">
                <a:solidFill>
                  <a:srgbClr val="1D2733"/>
                </a:solidFill>
              </a:rPr>
              <a:t>Công nợ</a:t>
            </a:r>
          </a:p>
          <a:p xmlns:a="http://schemas.openxmlformats.org/drawingml/2006/main">
            <a:pPr algn="ctr">
              <a:defRPr sz="1350" b="0">
                <a:solidFill>
                  <a:srgbClr val="1D2733"/>
                </a:solidFill>
              </a:defRPr>
            </a:pPr>
            <a:r>
              <a:rPr sz="1350" b="0">
                <a:solidFill>
                  <a:srgbClr val="1D2733"/>
                </a:solidFill>
              </a:rPr>
              <a:t>kiểm tra và lưu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21DD0-ED9F-47AF-88D6-ABC81980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03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AFA7D-28D2-46F6-832A-E16EF302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0037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24D0E-63FF-484E-B2BC-644CC66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Hành động: biến DXMH, nghiệm thu và DXTT thành dữ liệu nối tiếp nhau thay vì ba lần nhập độc lập.</a:t>
            </a:r>
          </a:p>
        </p:txBody>
      </p:sp>
    </p:spTree>
    <p:extLst>
      <p:ext uri="{BB962C8B-B14F-4D97-AF65-F5344CB8AC3E}">
        <p14:creationId xmlns:p14="http://schemas.microsoft.com/office/powerpoint/2010/main" val="17387466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425FD-D045-4229-8A85-3AA37AD8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VẤN ĐỀ THEO BỘ PHẬN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BB40D-91E5-4429-A06D-F1F72245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CC384-FD5D-49F5-A4BD-89CE01C6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5BF91-7C93-4764-85E4-FD6CE596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Giúp thủ quỹ chi đúng dòng đã được duyệt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C2387-FB6E-4E40-9E37-0C21695F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Chi tiền cần bám vào dòng đã được duyệt, số tiền được duyệt và bằng chứng chi tiền.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F6F50-5295-4CA9-8F8C-E48AC2FB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58C6C-F41D-413F-B724-325AB4F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051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A6A11-2694-47E3-817F-F7DFA693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051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F6F2D-6118-46CF-969D-21F11452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DXTT đã duyệt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B5C21-ED49-45C1-92D3-B3D5490F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Dòng chi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07BC9-85EB-4480-8D51-9FD34850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7175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4E77"/>
                </a:solidFill>
              </a:defRPr>
            </a:pPr>
            <a:r>
              <a:rPr sz="1200" b="0">
                <a:solidFill>
                  <a:srgbClr val="184E77"/>
                </a:solidFill>
              </a:rPr>
              <a:t>Chứng từ chi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C206E-DC6F-4BBE-837B-7DE86EBE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Cập nhật công nợ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6978C-EB02-4848-BD41-C2082967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Hành động: thủ quỹ không chỉ ghi 'đã chi', mà upload bằng chứng chi tiền vào đúng dòng thanh toán.</a:t>
            </a:r>
          </a:p>
        </p:txBody>
      </p:sp>
    </p:spTree>
    <p:extLst>
      <p:ext uri="{BB962C8B-B14F-4D97-AF65-F5344CB8AC3E}">
        <p14:creationId xmlns:p14="http://schemas.microsoft.com/office/powerpoint/2010/main" val="1239340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52D3E7-625A-4BFA-9AA0-448DFDAD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VẤN ĐỀ THEO BỘ PHẬN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C9D6B-7199-466A-B2AF-761FBF83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8BC30-96D2-4667-8503-DC4C3249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DB247-CBFB-48DB-9440-208A85F3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Cho lãnh đạo một nơi nhìn trạng thái và bằng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58B47-D676-4165-B625-BBA67BB4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Lãnh đạo cần xem được việc đang chờ ai, giá trị bao nhiêu và hồ sơ có gì trước khi quyết định.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9844B-FB8C-42E4-B032-23E14F95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33625"/>
            <a:ext cx="171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Chờ duyệt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8F864-2680-4FA6-B850-D94A9A73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171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Chờ nghiệm thu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50A1D-3C37-4D41-BC1E-E7C4D4BC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171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4E77"/>
                </a:solidFill>
              </a:defRPr>
            </a:pPr>
            <a:r>
              <a:rPr sz="1275" b="0">
                <a:solidFill>
                  <a:srgbClr val="184E77"/>
                </a:solidFill>
              </a:rPr>
              <a:t>Chờ KTTH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02D1B-0C3D-4235-9310-63C50C31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714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Chờ chi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302FA-C235-4251-8563-42F27C5C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D2733"/>
                </a:solidFill>
              </a:defRPr>
            </a:pPr>
            <a:r>
              <a:rPr sz="1725" b="1">
                <a:solidFill>
                  <a:srgbClr val="1D2733"/>
                </a:solidFill>
              </a:rPr>
              <a:t>Một dashboard nên trả lời ba câu hỏi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6192B-CDE0-4971-B672-41D9DEB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719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7D"/>
                </a:solidFill>
              </a:defRPr>
            </a:pPr>
            <a:r>
              <a:rPr sz="1500" b="0">
                <a:solidFill>
                  <a:srgbClr val="64707D"/>
                </a:solidFill>
              </a:rPr>
              <a:t>Kẹt ở đâu?   Ai giữ bước tiếp theo?   Giá trị tiền bao nhiêu?</a:t>
            </a:r>
          </a:p>
        </p:txBody>
      </p:sp>
    </p:spTree>
    <p:extLst>
      <p:ext uri="{BB962C8B-B14F-4D97-AF65-F5344CB8AC3E}">
        <p14:creationId xmlns:p14="http://schemas.microsoft.com/office/powerpoint/2010/main" val="706010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E28D05-0E01-425D-88C7-BD043B91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VẤN ĐỀ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9EE95-22B7-4B80-8D54-38027680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682FC-7C8F-43F9-92E4-1835DBAA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C828A-F0C4-4306-99F6-C628A21B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Tách vấn đề hệ thống khỏi lỗi con người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9ACD7-57A5-4EC4-B1BF-7E277C1F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Nếu mẫu nhập và nơi lưu chưa rõ, sai sót sẽ lặp lại dù mọi người đều cố gắng.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835A7-DADE-40B4-B5AB-9BDC008B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21907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D2733"/>
                </a:solidFill>
              </a:defRPr>
            </a:pPr>
            <a:r>
              <a:rPr sz="1425" b="0">
                <a:solidFill>
                  <a:srgbClr val="1D2733"/>
                </a:solidFill>
              </a:rPr>
              <a:t>Con người</a:t>
            </a:r>
          </a:p>
          <a:p xmlns:a="http://schemas.openxmlformats.org/drawingml/2006/main">
            <a:pPr algn="ctr">
              <a:defRPr sz="1425" b="0">
                <a:solidFill>
                  <a:srgbClr val="1D2733"/>
                </a:solidFill>
              </a:defRPr>
            </a:pPr>
            <a:r>
              <a:rPr sz="1425" b="0">
                <a:solidFill>
                  <a:srgbClr val="1D2733"/>
                </a:solidFill>
              </a:rPr>
              <a:t>nhớ và nhắn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5CC57-C590-4BF9-B08C-740368A4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76500"/>
            <a:ext cx="21907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4E77"/>
                </a:solidFill>
              </a:defRPr>
            </a:pPr>
            <a:r>
              <a:rPr sz="1425" b="0">
                <a:solidFill>
                  <a:srgbClr val="184E77"/>
                </a:solidFill>
              </a:rPr>
              <a:t>Hệ thống</a:t>
            </a:r>
          </a:p>
          <a:p xmlns:a="http://schemas.openxmlformats.org/drawingml/2006/main">
            <a:pPr algn="ctr">
              <a:defRPr sz="1425" b="0">
                <a:solidFill>
                  <a:srgbClr val="184E77"/>
                </a:solidFill>
              </a:defRPr>
            </a:pPr>
            <a:r>
              <a:rPr sz="1425" b="0">
                <a:solidFill>
                  <a:srgbClr val="184E77"/>
                </a:solidFill>
              </a:rPr>
              <a:t>nhắc trường bắt buộc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B258C-AB74-4B09-8682-72E73876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1907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CFE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D2733"/>
                </a:solidFill>
              </a:defRPr>
            </a:pPr>
            <a:r>
              <a:rPr sz="1425" b="0">
                <a:solidFill>
                  <a:srgbClr val="1D2733"/>
                </a:solidFill>
              </a:rPr>
              <a:t>Quản trị</a:t>
            </a:r>
          </a:p>
          <a:p xmlns:a="http://schemas.openxmlformats.org/drawingml/2006/main">
            <a:pPr algn="ctr">
              <a:defRPr sz="1425" b="0">
                <a:solidFill>
                  <a:srgbClr val="1D2733"/>
                </a:solidFill>
              </a:defRPr>
            </a:pPr>
            <a:r>
              <a:rPr sz="1425" b="0">
                <a:solidFill>
                  <a:srgbClr val="1D2733"/>
                </a:solidFill>
              </a:rPr>
              <a:t>xem lệch và sửa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B10ED-BE4C-4751-97FA-FC61DF3E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BB718-8A9B-4177-B272-25E73DBE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4505C-4450-412E-986C-1A197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38625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Hành động: chuẩn hóa quy trình bằng công cụ, rồi dùng pilot để tìm lỗi thiết kế còn lại.</a:t>
            </a:r>
          </a:p>
        </p:txBody>
      </p:sp>
    </p:spTree>
    <p:extLst>
      <p:ext uri="{BB962C8B-B14F-4D97-AF65-F5344CB8AC3E}">
        <p14:creationId xmlns:p14="http://schemas.microsoft.com/office/powerpoint/2010/main" val="11732771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542CC-B60D-42A1-AF39-0E23450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03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AF1E2-AE74-4625-98FF-ECC94CED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0B971-03B6-40B5-A64F-6DAE2AA5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5D112-A42C-45C6-B5FA-C7F0816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96A3"/>
                </a:solidFill>
              </a:defRPr>
            </a:pPr>
            <a:r>
              <a:rPr sz="900" b="1">
                <a:solidFill>
                  <a:srgbClr val="8B96A3"/>
                </a:solidFill>
              </a:rPr>
              <a:t>03 GIẢI PHÁP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B2A0A-26EC-41B2-ABB6-5585683D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D2733"/>
                </a:solidFill>
              </a:defRPr>
            </a:pPr>
            <a:r>
              <a:rPr sz="3150" b="0">
                <a:solidFill>
                  <a:srgbClr val="1D2733"/>
                </a:solidFill>
              </a:rPr>
              <a:t>Dùng app như sổ luồng công việc, không thay chứng từ gốc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511B0-CE97-4BE0-B747-7192B369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App nên giúp công việc đi đúng đường và để lại dấu vết. Chứng từ hợp lệ vẫn là bằng chứng kế toán.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30C3B-10E6-4E7A-8CAD-C2235F53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03355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A89AE-5D36-42FA-A4E4-A7C826D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12F50-B04E-47E2-A569-C6E8D81F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EEB74-122E-4169-9B7D-AE61FA17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E6895-AFD1-470F-A38B-AC472365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Dùng app như sổ luồng công việc, không thay chứng từ gốc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2E1FC-4E9C-4802-94A4-00577AB1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Cách nói này khiêm tốn hơn và đúng hơn: app tạo trạng thái, trách nhiệm và dữ liệu; chứng từ vẫn cần hợp lệ.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37633-A50B-4CEC-94E6-ECBD641C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5316A-C1A0-40AF-AC7F-52362463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Chứng từ gốc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DF1C1-700D-4657-9B0B-8698FB9E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VAT, BBGN, phiếu cân, uỷ nhiệm chi, phiếu chi.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Vai trò: bằng chứng kế toán và pháp lý.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4FDE7-3401-48E9-BEF8-9CA5311B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572B8-FAF6-48EB-B5B3-03C6D8E5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4E77"/>
                </a:solidFill>
              </a:defRPr>
            </a:pPr>
            <a:r>
              <a:rPr sz="1575" b="1">
                <a:solidFill>
                  <a:srgbClr val="184E77"/>
                </a:solidFill>
              </a:rPr>
              <a:t>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65DFA-468E-4CE2-B80A-5FF4BE84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Trạng thái, người xử lý, quyền duyệt, lịch sử thao tác, tệp đính kèm.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Vai trò: luồng công việc.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CD0A3-F41C-4F72-891D-BCF71314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472D9-E66E-40C3-922B-4EB8625A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72FF0-036A-477D-B99B-8B9E54C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Tổng hợp việc đang chờ, giá trị tiền, điểm kẹt và công nợ.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Vai trò: quan sát và điều hành.</a:t>
            </a:r>
          </a:p>
        </p:txBody>
      </p:sp>
    </p:spTree>
    <p:extLst>
      <p:ext uri="{BB962C8B-B14F-4D97-AF65-F5344CB8AC3E}">
        <p14:creationId xmlns:p14="http://schemas.microsoft.com/office/powerpoint/2010/main" val="13482389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99AC4-A691-4A21-9775-1E27909F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755D8-198C-4E67-A88B-9D3A5230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6030B-1D5E-43CF-9B83-B5C6BDF7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7C21F-140B-461D-BB7F-BE5A0019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Ghép từng vấn đề với một chức năng xử lý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9FE8C-E00B-44EF-8BC0-E0EFCB3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Giải pháp nên được nhìn như danh sách hành động cụ thể, không phải lời hứa chung.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DF86C-8F97-4285-911D-99FAA8E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EE742-8A25-4BBD-83A5-CAAC664E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859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Vấn đề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F1CD6-6C6E-49EF-AF16-30B6E4FE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859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Hành động trong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7D98F-551B-4E48-88AA-6DB82C4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62225"/>
            <a:ext cx="971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1E3DD-AA63-47AD-ACF7-429268E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955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Truy vết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7283D-95F2-4CF4-A96B-6F7A14D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955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Ghi người tạo, người duyệt, thời điểm và lý do trả lại/từ chối.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4214A-0852-4B1C-A083-0E96A6D0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71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9D719-2252-414E-81B1-B1967EB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Dữ liệu rời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9DFFB-CA78-4414-9AFC-A3739DCF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051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Lưu DXMH, nghiệm thu, DXTT, chi tiền và công nợ trong cùng cơ sở dữ liệu.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71FAF-68CE-4CF9-90E9-3F3666E1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"/>
            <a:ext cx="971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9F136-C5A5-458F-8B60-B5315C3C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Mẫu tin nhắn lệch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BA43F7-D9C6-4E50-B3C7-9A7A3970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147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Dùng biểu mẫu bắt buộc trường: NCC, mặt hàng, số lượng, VAT, tệp.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7AAD1-D596-44B7-A28D-2D28CE6A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91025"/>
            <a:ext cx="971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A1786-D8B1-4A61-AA2C-2E752A66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Nhập lại nhiều lần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8287D-22F9-46D3-B5CF-1628435A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243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Dữ liệu từ bước trước được dùng tiếp ở bước sau.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54E40-2C73-4378-989E-541888DD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9715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32F1F3-971F-4D90-902F-301A4599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339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Khó xem bằng chứng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7448F-2D4E-48A8-BFB2-71991566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339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Mỗi hồ sơ có link chứng từ theo đúng bước kiểm soát.</a:t>
            </a:r>
          </a:p>
        </p:txBody>
      </p:sp>
    </p:spTree>
    <p:extLst>
      <p:ext uri="{BB962C8B-B14F-4D97-AF65-F5344CB8AC3E}">
        <p14:creationId xmlns:p14="http://schemas.microsoft.com/office/powerpoint/2010/main" val="8248872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88F10E-C86D-49DD-B606-B3CEDB63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462BB-A484-4421-998E-61F94BDE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1EF62-38AB-471E-9273-163CF696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A1962F-BC70-42F7-933C-40D09706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Chạy một vòng đời đơn hàng trong cùng hồ sơ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916E1-0C50-499D-AE41-FBC51210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Mục tiêu là theo dõi trọn vòng đời, không chỉ thay form tạo đề xuất.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32BC5-0A52-4496-8548-A4256985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860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05633-53E0-4F82-93FB-7A7C3659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860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94F3D-372E-49AF-8B81-D39B8D9E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860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7AB9D-ADD2-4366-98C6-DA9E5A8F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860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CDE8B-A9EA-4BD6-8BF0-93D34B7A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860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AF19D-B067-4984-BAC7-2FF60D7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860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D7F6D-2C4F-4F1E-8CBA-754329FE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860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63A60-FD52-4C9A-868F-3A7A4B9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DXMH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76509-2710-4B85-8351-690A39A1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Duyệt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F5BEA-029B-4252-951E-FAAA8F2D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Nghiệm thu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7AC91-CA5B-4C9A-AF09-FFA5CE79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84E77"/>
                </a:solidFill>
              </a:defRPr>
            </a:pPr>
            <a:r>
              <a:rPr sz="1088" b="0">
                <a:solidFill>
                  <a:srgbClr val="184E77"/>
                </a:solidFill>
              </a:rPr>
              <a:t>KTTH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6DD02-644F-4594-B628-03F1A8BD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DXTT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E5529-662F-4D7E-B57B-49515AD7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Duyệt chi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FAD0B-0F2E-4C68-8141-1E2C6C3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Thủ quỹ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E6E549-A714-40C4-90D2-78476108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19375"/>
            <a:ext cx="11049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Công nợ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E6579-8890-450A-BCC0-DE16FAA8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7D"/>
                </a:solidFill>
              </a:defRPr>
            </a:pPr>
            <a:r>
              <a:rPr sz="1500" b="0">
                <a:solidFill>
                  <a:srgbClr val="64707D"/>
                </a:solidFill>
              </a:rPr>
              <a:t>Hành động: pilot phải kiểm chứng chuỗi thật từ đề xuất đến bằng chứng chi tiền.</a:t>
            </a:r>
          </a:p>
        </p:txBody>
      </p:sp>
    </p:spTree>
    <p:extLst>
      <p:ext uri="{BB962C8B-B14F-4D97-AF65-F5344CB8AC3E}">
        <p14:creationId xmlns:p14="http://schemas.microsoft.com/office/powerpoint/2010/main" val="11398213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26FD7-F8CF-424D-A436-13DC0CB1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EAFB2-5C97-4A37-8BDE-5646D560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8CA4C-3F47-4773-8296-737CBFD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4690B-A735-4128-B2F2-05AA2229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Chuẩn hóa mẫu nhập liệu trước khi gửi duyệt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3C090-416A-487F-9F84-65659676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Nếu dữ liệu đầu vào chuẩn, các bước sau bớt phải hỏi lại và sửa lại.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CEFBB-6A4D-4156-87AF-3F91DC72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90750"/>
            <a:ext cx="3714750" cy="271462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C84E9-4FC4-4A94-BF91-9948C91E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288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733"/>
                </a:solidFill>
              </a:defRPr>
            </a:pPr>
            <a:r>
              <a:rPr sz="1650" b="1">
                <a:solidFill>
                  <a:srgbClr val="1D2733"/>
                </a:solidFill>
              </a:rPr>
              <a:t>Tạo đề xuất mua hàng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92C65-E382-4881-99FA-41F1D386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00375"/>
            <a:ext cx="1381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NCC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E76A1-E4FB-4C54-AF5E-E468C781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00375"/>
            <a:ext cx="1381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Mặt hàng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F712A-FE72-45F1-BF76-7AE6970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52825"/>
            <a:ext cx="1381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Số lượng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E7774-C5AB-4C61-A774-1889F59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552825"/>
            <a:ext cx="1381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Đơn giá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C363D-0D85-4ACC-ADE9-891F74C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05275"/>
            <a:ext cx="1381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% VAT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A7363-B01A-4C9B-8BAC-0059912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105275"/>
            <a:ext cx="1381125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D2733"/>
                </a:solidFill>
              </a:defRPr>
            </a:pPr>
            <a:r>
              <a:rPr sz="1088" b="0">
                <a:solidFill>
                  <a:srgbClr val="1D2733"/>
                </a:solidFill>
              </a:rPr>
              <a:t>File báo giá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32F39-0DA3-4742-97ED-6FF11480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19375"/>
            <a:ext cx="31432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4E77"/>
                </a:solidFill>
              </a:defRPr>
            </a:pPr>
            <a:r>
              <a:rPr sz="1650" b="1">
                <a:solidFill>
                  <a:srgbClr val="184E77"/>
                </a:solidFill>
              </a:rPr>
              <a:t>Dữ liệu đủ hơn</a:t>
            </a:r>
          </a:p>
          <a:p xmlns:a="http://schemas.openxmlformats.org/drawingml/2006/main">
            <a:pPr algn="ctr">
              <a:defRPr sz="1650" b="1">
                <a:solidFill>
                  <a:srgbClr val="184E77"/>
                </a:solidFill>
              </a:defRPr>
            </a:pPr>
            <a:r>
              <a:rPr sz="1650" b="1">
                <a:solidFill>
                  <a:srgbClr val="184E77"/>
                </a:solidFill>
              </a:rPr>
              <a:t>trước khi lãnh đạo duyệt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4FAC0-BA28-4DFC-BC18-BF6E04F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242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98381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30CF3-C956-42B1-B1AB-753961CF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2624F-2F39-421E-9EAD-446B3E6B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FD613-36EC-4054-ADF2-B13987B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0ECF8-BC91-42DE-9BBE-18FC6ED2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Gắn chứng từ vào đúng bước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E91BD-8956-4F4B-A4CA-A79BC07C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Không chỉ cần có tệp; cần biết tệp đó chứng minh cho bước nào.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03F0F-DE9F-449D-A110-E34F1B6E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733"/>
                </a:solidFill>
              </a:defRPr>
            </a:pPr>
            <a:r>
              <a:rPr sz="1200" b="1">
                <a:solidFill>
                  <a:srgbClr val="1D2733"/>
                </a:solidFill>
              </a:rPr>
              <a:t>DXMH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62095-3B1D-41AA-9C1C-49955EB0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5334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D2733"/>
                </a:solidFill>
              </a:defRPr>
            </a:pPr>
            <a:r>
              <a:rPr sz="1238" b="0">
                <a:solidFill>
                  <a:srgbClr val="1D2733"/>
                </a:solidFill>
              </a:rPr>
              <a:t>Báo giá / đề xuất NCC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C9EFB-9C8E-4DE0-82F8-317AB0EC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57E5-B066-4DB6-BA9D-B90FFBB1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4E77"/>
                </a:solidFill>
              </a:defRPr>
            </a:pPr>
            <a:r>
              <a:rPr sz="1200" b="1">
                <a:solidFill>
                  <a:srgbClr val="184E77"/>
                </a:solidFill>
              </a:rPr>
              <a:t>Nghiệm thu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3C361-5BDE-47CA-A592-9EEC292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5334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D2733"/>
                </a:solidFill>
              </a:defRPr>
            </a:pPr>
            <a:r>
              <a:rPr sz="1238" b="0">
                <a:solidFill>
                  <a:srgbClr val="1D2733"/>
                </a:solidFill>
              </a:rPr>
              <a:t>VAT / BBGN / phiếu cân / ảnh vật tư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78F71-BCDA-4491-A4D0-BD8520B3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0E09D-0366-4B74-88CC-7DF3AE72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733"/>
                </a:solidFill>
              </a:defRPr>
            </a:pPr>
            <a:r>
              <a:rPr sz="1200" b="1">
                <a:solidFill>
                  <a:srgbClr val="1D2733"/>
                </a:solidFill>
              </a:rPr>
              <a:t>DXTT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88B9A-1270-4462-9FC2-15522F21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5334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D2733"/>
                </a:solidFill>
              </a:defRPr>
            </a:pPr>
            <a:r>
              <a:rPr sz="1238" b="0">
                <a:solidFill>
                  <a:srgbClr val="1D2733"/>
                </a:solidFill>
              </a:rPr>
              <a:t>Hồ sơ đủ điều kiện thanh toán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73EA6-1EEF-4858-846E-9E2611BD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C8A0B-8325-4643-AC69-BED10A2B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1428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2733"/>
                </a:solidFill>
              </a:defRPr>
            </a:pPr>
            <a:r>
              <a:rPr sz="1200" b="1">
                <a:solidFill>
                  <a:srgbClr val="1D2733"/>
                </a:solidFill>
              </a:rPr>
              <a:t>Chi tiền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3AEB8-9B84-4E02-9288-8FE8F58B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5334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1D2733"/>
                </a:solidFill>
              </a:defRPr>
            </a:pPr>
            <a:r>
              <a:rPr sz="1238" b="0">
                <a:solidFill>
                  <a:srgbClr val="1D2733"/>
                </a:solidFill>
              </a:rPr>
              <a:t>Phiếu chi / uỷ nhiệm chi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994CA6-C8C1-48AD-BCCD-F1262878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863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92904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424811-BD41-4D6B-B680-390CB17D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0480F-1712-493D-B3CD-D3A19F11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B062E-362E-42DC-BDC3-646D648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4C8D8-5115-4878-BF4C-08F9EF7D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Phê duyệt trong app để tạo dấu vết quyết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2C169-DDAC-49B9-86A3-05D47294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Duyệt trong app không thay quyền lãnh đạo. Nó ghi lại quyết định, bối cảnh và trạng thái tiếp theo.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E1EB6-3AB5-4A28-9952-C2926BD6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76500"/>
            <a:ext cx="2381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Thông tin đề xuất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NCC · giá · VAT · tệp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B17EB-8B3F-4A6A-903F-F9AB7A2A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238125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4E77"/>
                </a:solidFill>
              </a:defRPr>
            </a:pPr>
            <a:r>
              <a:rPr sz="1425" b="1">
                <a:solidFill>
                  <a:srgbClr val="184E77"/>
                </a:solidFill>
              </a:rPr>
              <a:t>Lãnh đạo duyệt</a:t>
            </a:r>
          </a:p>
          <a:p xmlns:a="http://schemas.openxmlformats.org/drawingml/2006/main">
            <a:pPr algn="ctr">
              <a:defRPr sz="1425" b="1">
                <a:solidFill>
                  <a:srgbClr val="184E77"/>
                </a:solidFill>
              </a:defRPr>
            </a:pPr>
            <a:r>
              <a:rPr sz="1425" b="1">
                <a:solidFill>
                  <a:srgbClr val="184E77"/>
                </a:solidFill>
              </a:rPr>
              <a:t>hoặc trả lại có lý 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1D5B1-6A5F-48F8-BFE0-782DE4B6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38125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Trạng thái mới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chờ nghiệm thu / trả lại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3754E-8D77-457C-B357-FB315EE4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527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BB6F2-69F1-467D-8B75-B5A7C6DF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527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F5CF5-CE6B-4A4A-89F1-B0D09B0F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38625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64707D"/>
                </a:solidFill>
              </a:defRPr>
            </a:pPr>
            <a:r>
              <a:rPr sz="1388" b="0">
                <a:solidFill>
                  <a:srgbClr val="64707D"/>
                </a:solidFill>
              </a:rPr>
              <a:t>Nguyên tắc: phê duyệt nguyên tắc nên đi cùng bằng chứng đủ để người duyệt hiểu mình đang chấp thuận điều gì.</a:t>
            </a:r>
          </a:p>
        </p:txBody>
      </p:sp>
    </p:spTree>
    <p:extLst>
      <p:ext uri="{BB962C8B-B14F-4D97-AF65-F5344CB8AC3E}">
        <p14:creationId xmlns:p14="http://schemas.microsoft.com/office/powerpoint/2010/main" val="13854050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A94B0-BBD8-45B0-A925-9542570B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9170-9CE5-40DE-BCF1-F82787A0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AF68A-25BA-4D36-A02F-3E2F5C29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50ADA-2318-4A02-921A-491D414A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Theo dõi chi phí và công nợ theo trạng thái mới nhất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2AF6C-D6F0-4AC3-B923-9B47DE3E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Dashboard có ích khi nó trả lời câu hỏi vận hành, không chỉ hiển thị số liệu.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9ED74-DC2E-4FA7-A80D-AD0FAA70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3345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F70AE-90EC-4745-A0DF-E1F456DE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24125"/>
            <a:ext cx="1666875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Chờ duyệt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12 đơn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66417-454B-45F8-9425-834C3751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24125"/>
            <a:ext cx="1666875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Chờ nghiệm thu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5 đơn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09964-5EBF-42DB-A5DF-7538CBBF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1666875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4E77"/>
                </a:solidFill>
              </a:defRPr>
            </a:pPr>
            <a:r>
              <a:rPr sz="1275" b="1">
                <a:solidFill>
                  <a:srgbClr val="184E77"/>
                </a:solidFill>
              </a:rPr>
              <a:t>Chờ chi</a:t>
            </a:r>
          </a:p>
          <a:p xmlns:a="http://schemas.openxmlformats.org/drawingml/2006/main">
            <a:pPr algn="ctr">
              <a:defRPr sz="1275" b="1">
                <a:solidFill>
                  <a:srgbClr val="184E77"/>
                </a:solidFill>
              </a:defRPr>
            </a:pPr>
            <a:r>
              <a:rPr sz="1275" b="1">
                <a:solidFill>
                  <a:srgbClr val="184E77"/>
                </a:solidFill>
              </a:rPr>
              <a:t>318 triệu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8E9A7-C197-46D3-92B6-68A534AB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1666875" cy="80962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Công nợ mở</a:t>
            </a:r>
          </a:p>
          <a:p xmlns:a="http://schemas.openxmlformats.org/drawingml/2006/main">
            <a:pPr algn="ctr">
              <a:defRPr sz="1275" b="0">
                <a:solidFill>
                  <a:srgbClr val="1D2733"/>
                </a:solidFill>
              </a:defRPr>
            </a:pPr>
            <a:r>
              <a:rPr sz="1275" b="0">
                <a:solidFill>
                  <a:srgbClr val="1D2733"/>
                </a:solidFill>
              </a:rPr>
              <a:t>1,42 tỷ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514CC-CB13-4518-8837-BFFDEE41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57625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082A4-F8FC-44E4-9CC2-D52CA30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07D"/>
                </a:solidFill>
              </a:defRPr>
            </a:pPr>
            <a:r>
              <a:rPr sz="1500" b="0">
                <a:solidFill>
                  <a:srgbClr val="64707D"/>
                </a:solidFill>
              </a:rPr>
              <a:t>Kẹt ở đâu? Ai giữ bước tiếp theo? Giá trị tiền bao nhiêu?</a:t>
            </a:r>
          </a:p>
        </p:txBody>
      </p:sp>
    </p:spTree>
    <p:extLst>
      <p:ext uri="{BB962C8B-B14F-4D97-AF65-F5344CB8AC3E}">
        <p14:creationId xmlns:p14="http://schemas.microsoft.com/office/powerpoint/2010/main" val="12576602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26E766-1934-4D2A-BBE9-63410BB5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THIẾT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4405B-D35B-446F-8923-D2053EEF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241F9-A38E-4225-BE41-DD88E141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D333F-5224-4D1E-8520-F8D5414D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Lưu dữ liệu ở Supabase, còn giao diện là trang web nhẹ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765D5-A045-4284-8898-A40463DB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Thiết lập hiện tại phù hợp cho pilot: ít hạ tầng, dễ mở bằng trình duyệt, dữ liệu nằm ở cơ sở dữ liệu quản lý tập trung.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35156-F8DA-4562-91C9-462918AF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813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03C01-2D53-4B03-BBD0-D36F28B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813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A5C87-3671-4C37-9682-A1A9636A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9813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A3104-0A33-47EF-907C-A2F089AE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D2733"/>
                </a:solidFill>
              </a:defRPr>
            </a:pPr>
            <a:r>
              <a:rPr sz="1163" b="0">
                <a:solidFill>
                  <a:srgbClr val="1D2733"/>
                </a:solidFill>
              </a:rPr>
              <a:t>Người dùng</a:t>
            </a:r>
          </a:p>
          <a:p xmlns:a="http://schemas.openxmlformats.org/drawingml/2006/main">
            <a:pPr algn="ctr">
              <a:defRPr sz="1163" b="0">
                <a:solidFill>
                  <a:srgbClr val="1D2733"/>
                </a:solidFill>
              </a:defRPr>
            </a:pPr>
            <a:r>
              <a:rPr sz="1163" b="0">
                <a:solidFill>
                  <a:srgbClr val="1D2733"/>
                </a:solidFill>
              </a:rPr>
              <a:t>trình duyệt / điện thoại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92655-1578-46E6-BB3B-08D87B2E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7175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D2733"/>
                </a:solidFill>
              </a:defRPr>
            </a:pPr>
            <a:r>
              <a:rPr sz="1163" b="0">
                <a:solidFill>
                  <a:srgbClr val="1D2733"/>
                </a:solidFill>
              </a:rPr>
              <a:t>GitHub Pages</a:t>
            </a:r>
          </a:p>
          <a:p xmlns:a="http://schemas.openxmlformats.org/drawingml/2006/main">
            <a:pPr algn="ctr">
              <a:defRPr sz="1163" b="0">
                <a:solidFill>
                  <a:srgbClr val="1D2733"/>
                </a:solidFill>
              </a:defRPr>
            </a:pPr>
            <a:r>
              <a:rPr sz="1163" b="0">
                <a:solidFill>
                  <a:srgbClr val="1D2733"/>
                </a:solidFill>
              </a:rPr>
              <a:t>web tĩnh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BB02D-0A30-41CB-A8E1-B1105AD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7175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D2733"/>
                </a:solidFill>
              </a:defRPr>
            </a:pPr>
            <a:r>
              <a:rPr sz="1163" b="0">
                <a:solidFill>
                  <a:srgbClr val="1D2733"/>
                </a:solidFill>
              </a:rPr>
              <a:t>Supabase Auth</a:t>
            </a:r>
          </a:p>
          <a:p xmlns:a="http://schemas.openxmlformats.org/drawingml/2006/main">
            <a:pPr algn="ctr">
              <a:defRPr sz="1163" b="0">
                <a:solidFill>
                  <a:srgbClr val="1D2733"/>
                </a:solidFill>
              </a:defRPr>
            </a:pPr>
            <a:r>
              <a:rPr sz="1163" b="0">
                <a:solidFill>
                  <a:srgbClr val="1D2733"/>
                </a:solidFill>
              </a:rPr>
              <a:t>đăng nhập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6A254-44E5-4564-A55B-BAD286E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7175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184E77"/>
                </a:solidFill>
              </a:defRPr>
            </a:pPr>
            <a:r>
              <a:rPr sz="1163" b="0">
                <a:solidFill>
                  <a:srgbClr val="184E77"/>
                </a:solidFill>
              </a:rPr>
              <a:t>RPC + Postgres</a:t>
            </a:r>
          </a:p>
          <a:p xmlns:a="http://schemas.openxmlformats.org/drawingml/2006/main">
            <a:pPr algn="ctr">
              <a:defRPr sz="1163" b="0">
                <a:solidFill>
                  <a:srgbClr val="184E77"/>
                </a:solidFill>
              </a:defRPr>
            </a:pPr>
            <a:r>
              <a:rPr sz="1163" b="0">
                <a:solidFill>
                  <a:srgbClr val="184E77"/>
                </a:solidFill>
              </a:rPr>
              <a:t>dữ liệu nghiệp vụ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E99CCF-760F-41AE-A75B-BAC30D7B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386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8B96A3"/>
                </a:solidFill>
              </a:defRPr>
            </a:pPr>
            <a:r>
              <a:rPr sz="1013" b="0">
                <a:solidFill>
                  <a:srgbClr val="8B96A3"/>
                </a:solidFill>
              </a:rPr>
              <a:t>Nguồn kiểm tra: README, SUPABASE_SETUP, tệp triển khai giao diện.</a:t>
            </a:r>
          </a:p>
        </p:txBody>
      </p:sp>
    </p:spTree>
    <p:extLst>
      <p:ext uri="{BB962C8B-B14F-4D97-AF65-F5344CB8AC3E}">
        <p14:creationId xmlns:p14="http://schemas.microsoft.com/office/powerpoint/2010/main" val="16822159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AB1A0-01D8-4963-BFD7-443E1BE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THIẾT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F4E36-750D-4C6A-91F9-02B1B5D4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BAF5E-D3C4-480B-AC9E-5CE779D3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D28F6-6232-45C7-9D0A-23BB45CC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Giảm rủi ro bằng phân quyền và RPC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4BBEA-735C-48CE-B1BB-2B3D92B3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Cần trình bày đúng mức: dữ liệu đi qua hàm server có kiểm tra quyền, thay vì để trình duyệt đọc bảng trực tiếp.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CAFC7-F316-4FED-8EC4-DEA683C0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59411-DEF5-409A-9593-69B3918E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065DC-239A-4179-8CC0-574927C6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Người dùng đăng nhập bằng tài khoản đã cấp.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Tài khoản không hoạt động sẽ bị chặn.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25771-687A-4B5C-9115-1E339812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812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8FC2C-FA2B-4FCD-95A0-AE85EC8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289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4E77"/>
                </a:solidFill>
              </a:defRPr>
            </a:pPr>
            <a:r>
              <a:rPr sz="1575" b="1">
                <a:solidFill>
                  <a:srgbClr val="184E77"/>
                </a:solidFill>
              </a:rPr>
              <a:t>Qua RPC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88764-E307-4CF9-917B-BF1D7A36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Bảng bật RLS và không mở quyền đọc/ghi trực tiếp.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Mỗi thao tác gọi RPC có kiểm tra quyền.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7AB17-D0AD-41C8-B823-448CEEE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FC3BA-CACA-43CC-A3AC-81CF375F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Dấu vết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FDFC4-7BA8-45C5-991F-8F56112E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Các thao tác chính có log, lý do từ chối/trả lại và trạng thái mới.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Phù hợp để truy vết.</a:t>
            </a:r>
          </a:p>
        </p:txBody>
      </p:sp>
    </p:spTree>
    <p:extLst>
      <p:ext uri="{BB962C8B-B14F-4D97-AF65-F5344CB8AC3E}">
        <p14:creationId xmlns:p14="http://schemas.microsoft.com/office/powerpoint/2010/main" val="4449186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B6FBF6-3A8F-486B-9BEF-3C74B47F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THIẾT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1B262-CEBD-43C0-B9F9-307F227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C9BF1-1CCC-4AA6-BC48-FADF7E09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89785-A68A-4ECB-A22D-C441EF2B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Nói rõ giới hạn bảo mật cần kiểm tra trước khi mở rộng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28215-A04F-48C4-9902-4EA39919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Một deck tốt không nên hứa tuyệt đối. Nên nói rõ phần đang có và phần cần làm chặt hơn.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6A8F7-87E0-43DE-8834-76907B3B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5A182-0381-4AA5-A314-BB24D64E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28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Hạng mục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35A1F-331C-4C70-AFE9-33BC7536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Cách nói trong buổi họp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190CF-0788-4516-B8E4-AA528C43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9906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DD394-402C-4C07-9FD7-7EAD5A0F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956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Dữ liệu nghiệp vụ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2165D-4AFF-4A02-B57D-673FFF39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Kiểm soát theo tài khoản, vai trò và hàm server.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0ABDB-A559-4A96-BFDE-517A338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906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186E4-E980-46B0-B33B-59B7AA62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623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Tệp đính kèm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BFACC-A537-41AF-868B-DC4E46D0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623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Hiện cần xác nhận mức riêng tư; nếu mở rộng nên chuyển kho riêng tư / đường dẫn có thời hạn nếu cần.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90F27-567A-4C1D-9031-D7FA2C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F146D-47F5-46DE-81F0-43E66A04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52552-73A8-4494-B9DF-844D0946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Admin quản lý tài khoản và phân quyền, không thay trách nhiệm nội dung giao dịch.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9C32C-8E7D-4131-BF21-916380A7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12D90-E85E-40FF-A9A9-73EB9F7D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Ngoại lệ thiếu chứng từ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B7D74-D1D0-419D-8891-603A431D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958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Chưa nói như tính năng có sẵn; cần chính sách và luồng riêng nếu lãnh đạo muốn.</a:t>
            </a:r>
          </a:p>
        </p:txBody>
      </p:sp>
    </p:spTree>
    <p:extLst>
      <p:ext uri="{BB962C8B-B14F-4D97-AF65-F5344CB8AC3E}">
        <p14:creationId xmlns:p14="http://schemas.microsoft.com/office/powerpoint/2010/main" val="145024854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9CCF7C-0DF6-47F1-8EEA-AD8E628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THIẾT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9FEA3-2493-4F50-BE19-48CE0472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3721D-86EB-4446-978B-8BE0D49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DF434-3158-4B87-9485-28FED191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Theo dõi độ trễ bằng blocker thay vì đoán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96F8B-EA1C-4BA8-9095-ECDFB50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Nếu có chậm, pilot cần biết chậm vì người dùng, dữ liệu thiếu, mạng, hay thiết kế màn hình.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32179-D84D-4C8F-AEE5-D09E34ED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52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C5FED-2E8F-48F7-973A-EEF5B002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52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BDCF4-BFA3-4299-890C-E778BFCD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9527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85894-A58B-4AB8-ABB0-0E61B85A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App bị kẹt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C1F55-90A9-4818-BE39-49DB0DE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619375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4E77"/>
                </a:solidFill>
              </a:defRPr>
            </a:pPr>
            <a:r>
              <a:rPr sz="1200" b="0">
                <a:solidFill>
                  <a:srgbClr val="184E77"/>
                </a:solidFill>
              </a:rPr>
              <a:t>Ghi blocker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B2F52-DD66-4209-80AA-737DE09B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19375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Dùng Viber dự phòng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24DC7-E839-4BC0-A4DD-8D5E183A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19375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Đối soát lại 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02D204-4347-4AA5-80A1-92751D3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Hành động: mọi dùng Viber dự phòng trong pilot phải có lý do và được đối soát lại trong ngày hoặc ngày làm việc kế tiếp.</a:t>
            </a:r>
          </a:p>
        </p:txBody>
      </p:sp>
    </p:spTree>
    <p:extLst>
      <p:ext uri="{BB962C8B-B14F-4D97-AF65-F5344CB8AC3E}">
        <p14:creationId xmlns:p14="http://schemas.microsoft.com/office/powerpoint/2010/main" val="40444047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A7BCD3-A2DA-48C9-8545-CE057625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THIẾT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33933-E607-4D3A-B888-D32C4DBA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08FB4-8C15-4929-B35D-1B90902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9DABC-4D72-479B-8AB4-93164D5C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Thiết kế này có thể mở rộng từng lớp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BE4CC-BB17-4C5D-B13F-C3443364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Không cần mở rộng bằng cách ép tất cả dùng ngay. Có thể thêm phòng ban, rule và báo cáo theo từng vòng.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10BAB-A3B0-4673-B15C-9AF44547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4E77"/>
                </a:solidFill>
              </a:defRPr>
            </a:pPr>
            <a:r>
              <a:rPr sz="1275" b="1">
                <a:solidFill>
                  <a:srgbClr val="184E77"/>
                </a:solidFill>
              </a:rPr>
              <a:t>Pilot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4E500-0759-4151-9749-0BFFC68F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956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một luồng thường kỳ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14CEA-DA3B-4280-A9E9-AEEE66D7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0980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Mở rộng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24E70-644C-4AEB-BFDF-E0BB4359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241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thêm bộ phận / NCC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4EE12-8D5A-4545-8AA0-850AC718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Làm chặt hơn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85F6D-39E7-4730-BE67-3D79FCDD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527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tệp riêng tư / chính sách ngoại lệ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448AA-1919-46E1-A50D-48EFE41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66900"/>
            <a:ext cx="1619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Báo cáo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127BA-7FFF-43F5-AF4E-F4EB4E7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812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phân tích chi phí / công nợ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6048A-B4FE-4FB5-AE74-C3585B2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815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Hành động: chỉ mở rộng sau khi có bằng chứng pilot và danh sách việc cần sửa.</a:t>
            </a:r>
          </a:p>
        </p:txBody>
      </p:sp>
    </p:spTree>
    <p:extLst>
      <p:ext uri="{BB962C8B-B14F-4D97-AF65-F5344CB8AC3E}">
        <p14:creationId xmlns:p14="http://schemas.microsoft.com/office/powerpoint/2010/main" val="8844244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A6220-625E-430E-887C-A6ABD60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CHI PHÍ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0D8F0-62E8-4DFA-B14E-8912ED41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BFC0D-09AF-44C5-AD6A-8EDC9CF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2CEC6-CB06-4AA6-8A5E-0D5C7342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Quản trị chi phí theo mức dùng và phạm vi triển khai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E364B-ED6A-4C16-A05F-9A3A83B8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Chi phí nên được trình bày như ước tính vận hành, không phải cam kết giá cố định.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7EAD7-476D-4B9B-8E99-4D9B8118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0E3F6-772F-4281-AB1B-E3F9D5B5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Pilot hiện tại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E5EB9-22DA-4459-BAEA-BAEEB60F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Giao diện tĩnh trên GitHub Pages / tên miền hiện có.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Dự án Supabase hiện có.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Chi phí thêm: cần kiểm tra hóa đơn, thường thấp nếu trong hạn mức.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9F7D8-C51C-469B-A81A-01448293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53FCB-2672-4F0A-8662-20F21E2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384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4E77"/>
                </a:solidFill>
              </a:defRPr>
            </a:pPr>
            <a:r>
              <a:rPr sz="1575" b="1">
                <a:solidFill>
                  <a:srgbClr val="184E77"/>
                </a:solidFill>
              </a:rPr>
              <a:t>Vận hành tối thiểu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10E4D-AB4E-4955-9570-721CECBC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289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Gói Supabase trả phí + máy chủ cơ sở dữ liệu + mức dùng.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Tài liệu hiện công bố máy chủ Micro khoảng US$10/tháng; vượt hạn mức thì tính thêm.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51F8C-C090-4646-965A-7EE302F9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33528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F8A43-0EC1-4719-AA28-C652DBA1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3840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733"/>
                </a:solidFill>
              </a:defRPr>
            </a:pPr>
            <a:r>
              <a:rPr sz="1575" b="1">
                <a:solidFill>
                  <a:srgbClr val="1D2733"/>
                </a:solidFill>
              </a:rPr>
              <a:t>Thiết lập bằng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AF527-D118-4F2C-AA9B-1B302E4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2895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Không có giấy phép nhà cung cấp riêng cho phần mềm tự xây.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38" b="0">
                <a:solidFill>
                  <a:srgbClr val="64707D"/>
                </a:solidFill>
              </a:defRPr>
            </a:pPr>
            <a:r>
              <a:rPr sz="1238" b="0">
                <a:solidFill>
                  <a:srgbClr val="64707D"/>
                </a:solidFill>
              </a:rPr>
              <a:t>Chi phí thật là thời gian thiết lập, kiểm thử, sửa lỗi và quản trị thay đổi.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820E9-654C-4C5D-AB83-3477A8CA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5312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8B96A3"/>
                </a:solidFill>
              </a:defRPr>
            </a:pPr>
            <a:r>
              <a:rPr sz="938" b="0">
                <a:solidFill>
                  <a:srgbClr val="8B96A3"/>
                </a:solidFill>
              </a:rPr>
              <a:t>Nguồn công khai kiểm tra 06/07/2026: tài liệu hóa đơn/máy chủ Supabase, GitHub Pages, bảng giá Vercel nếu chọn hosting thay thế.</a:t>
            </a:r>
          </a:p>
        </p:txBody>
      </p:sp>
    </p:spTree>
    <p:extLst>
      <p:ext uri="{BB962C8B-B14F-4D97-AF65-F5344CB8AC3E}">
        <p14:creationId xmlns:p14="http://schemas.microsoft.com/office/powerpoint/2010/main" val="132722298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9180F-E1C7-4C14-A52F-883BF61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04 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DE461-E35F-499C-80E6-876B403F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5168E-D87A-4690-A13D-B6E81246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7145C-788E-4F2D-B97F-F84DC29D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B96A3"/>
                </a:solidFill>
              </a:defRPr>
            </a:pPr>
            <a:r>
              <a:rPr sz="900" b="1">
                <a:solidFill>
                  <a:srgbClr val="8B96A3"/>
                </a:solidFill>
              </a:rPr>
              <a:t>04 BƯỚC TIẾP THEO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34AAB-DB58-41B2-B1E0-CD059AE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D2733"/>
                </a:solidFill>
              </a:defRPr>
            </a:pPr>
            <a:r>
              <a:rPr sz="3150" b="0">
                <a:solidFill>
                  <a:srgbClr val="1D2733"/>
                </a:solidFill>
              </a:rPr>
              <a:t>Bắt đầu bằng pilot hẹp, không ép dùng toàn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99B75-1694-4711-8B17-0CB3204F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Mục tiêu tiếp theo là xin quyền kiểm chứng một luồng thật, có kiểm soát, trong 2 tuần.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BCA20-939F-438B-8935-6EE8CC8D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9191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2C0B6-58A0-4BC7-8A9A-B0C4DE86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62AD2-C445-4BAB-BDC3-B1CD79DC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FDA39-4E6B-46A2-883E-00C022C4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C69C6-3599-4031-AEEE-75573197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Bắt đầu bằng pilot hẹp, không ép dùng toàn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25C3C-72FA-4A50-8B98-9191260E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Cách chuyển đổi phù hợp nhất là không bắt buộc ngay. Chỉ đưa một nhóm đơn thường kỳ vào thử thật.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75C99-77A3-4EF4-8F42-9A656A3F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28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9CAC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733"/>
                </a:solidFill>
              </a:defRPr>
            </a:pPr>
            <a:r>
              <a:rPr sz="1425" b="1">
                <a:solidFill>
                  <a:srgbClr val="1D2733"/>
                </a:solidFill>
              </a:rPr>
              <a:t>Không làm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A96BE-8FAA-4916-B9D2-E663047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ép tất cả đơn và mọi ngoại lệ vào app ngay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ED570-3A36-43AD-847B-120C14A2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28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4E77"/>
                </a:solidFill>
              </a:defRPr>
            </a:pPr>
            <a:r>
              <a:rPr sz="1425" b="1">
                <a:solidFill>
                  <a:srgbClr val="184E77"/>
                </a:solidFill>
              </a:rPr>
              <a:t>Nên làm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91F7B-E324-48FB-A11B-58A2902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chọn luồng thường kỳ đủ hồ sơ để đi hết vòng đời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C6538-E22B-4BA4-BEEE-B417C486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28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CFE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733"/>
                </a:solidFill>
              </a:defRPr>
            </a:pPr>
            <a:r>
              <a:rPr sz="1425" b="1">
                <a:solidFill>
                  <a:srgbClr val="1D2733"/>
                </a:solidFill>
              </a:rPr>
              <a:t>Sau 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BB044-3EA4-4378-9423-D0FAE291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mở rộng dựa trên bằng chứng, không dựa trên cảm giác</a:t>
            </a:r>
          </a:p>
        </p:txBody>
      </p:sp>
    </p:spTree>
    <p:extLst>
      <p:ext uri="{BB962C8B-B14F-4D97-AF65-F5344CB8AC3E}">
        <p14:creationId xmlns:p14="http://schemas.microsoft.com/office/powerpoint/2010/main" val="21241682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0D7DB-E558-42E4-A25E-3FBF4C4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ADBBA-FEA1-4594-ACC7-959384C5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46014-8741-4589-811F-2BFD9B0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A0AC6-6F66-40F1-B420-6700E8C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Định nghĩa kiểm soát bằng điều kiện vào và 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9464E-250B-4DF5-B467-24929EC2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Có kiểm soát không chỉ là 'ít người dùng'. Cần biết rõ đơn nào được thử và đơn nào không.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A1AFE-62B5-4806-AE96-80A44ABA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9334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4915D-70EA-40DA-8680-B9B56F9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Trong phạm vi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A98F8-F759-4B85-B34E-CB84C250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88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96A3"/>
                </a:solidFill>
              </a:defRPr>
            </a:pPr>
            <a:r>
              <a:rPr sz="1125" b="1">
                <a:solidFill>
                  <a:srgbClr val="8B96A3"/>
                </a:solidFill>
              </a:rPr>
              <a:t>Ngoài phạm vi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16530-CBEF-441B-86CF-E59FB3A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334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B8B7C-E795-4C3E-A9FB-9BEA2DBF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Đơn thường kỳ đang xin qua Viber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19040-865D-4865-AF84-9DFF49D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Đơn khẩn cấp thiếu chứng từ gốc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4E857-23E5-4AD4-831A-E6DE4F9F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9334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3BAC7-E8F0-471A-BFBC-B850993A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NCC, mặt hàng, bộ phận rõ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16575-349D-4FF5-89A7-F6DE2865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Số dư đầu kỳ chưa đối soát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BA115-EB58-4B23-944D-857AC51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9334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53B63-41C5-4FF5-B030-E01BC0C6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148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Đủ hồ sơ để đi luồng thường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2DE69-A1AF-412D-A0C4-391B8136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Việc phát sinh ngoài chính sách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60F4B-D5E1-4EDA-858D-C476F4B2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9334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A707E-8C44-486C-A9A5-3270AC44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Có thể hoàn tất trong 2 tuần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8C5E09-74CD-46D0-9872-D608CE2A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Trường hợp cần lãnh đạo đổi quy định trước</a:t>
            </a:r>
          </a:p>
        </p:txBody>
      </p:sp>
    </p:spTree>
    <p:extLst>
      <p:ext uri="{BB962C8B-B14F-4D97-AF65-F5344CB8AC3E}">
        <p14:creationId xmlns:p14="http://schemas.microsoft.com/office/powerpoint/2010/main" val="13232415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2C1B05-9806-4BBB-8F4B-AC932D2E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72B76-2506-4FB8-89CF-23B61BC2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D9EA3-D6E8-49E0-A35A-9C11C49F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A37FD-BA5E-47DC-B585-0B53FEB2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Trong pilot, app là nguồn phê duyệt chính cho đơn trong phạm vi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FCD17-0CD9-49E2-A153-E5850C17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Nếu chỉ nhập lại sau khi Viber đã duyệt xong, pilot không kiểm chứng được quy trình.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7A595-5E44-435B-A16B-4DDCE10E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813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54DE3-707A-4FAF-84DF-B0232229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813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C2F7-4C3B-4DD5-B40E-8C069896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Viber</a:t>
            </a:r>
          </a:p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trao đổi nhanh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405E6-4215-4480-B089-1823B0D5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7175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4E77"/>
                </a:solidFill>
              </a:defRPr>
            </a:pPr>
            <a:r>
              <a:rPr sz="1200" b="0">
                <a:solidFill>
                  <a:srgbClr val="184E77"/>
                </a:solidFill>
              </a:rPr>
              <a:t>App</a:t>
            </a:r>
          </a:p>
          <a:p xmlns:a="http://schemas.openxmlformats.org/drawingml/2006/main">
            <a:pPr algn="ctr">
              <a:defRPr sz="1200" b="0">
                <a:solidFill>
                  <a:srgbClr val="184E77"/>
                </a:solidFill>
              </a:defRPr>
            </a:pPr>
            <a:r>
              <a:rPr sz="1200" b="0">
                <a:solidFill>
                  <a:srgbClr val="184E77"/>
                </a:solidFill>
              </a:rPr>
              <a:t>phê duyệt chính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2547B-937C-4E66-917C-E7A645D1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7175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Dashboard</a:t>
            </a:r>
          </a:p>
          <a:p xmlns:a="http://schemas.openxmlformats.org/drawingml/2006/main">
            <a:pPr algn="ctr">
              <a:defRPr sz="1200" b="0">
                <a:solidFill>
                  <a:srgbClr val="1D2733"/>
                </a:solidFill>
              </a:defRPr>
            </a:pPr>
            <a:r>
              <a:rPr sz="1200" b="0">
                <a:solidFill>
                  <a:srgbClr val="1D2733"/>
                </a:solidFill>
              </a:rPr>
              <a:t>nguồn trạng thái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BACC1-63C6-4D91-A40D-56D5A454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Quy tắc dự phòng: Viber chỉ dùng khi app bị blocker; sau đó phải ghi lý do và đối soát lại app.</a:t>
            </a:r>
          </a:p>
        </p:txBody>
      </p:sp>
    </p:spTree>
    <p:extLst>
      <p:ext uri="{BB962C8B-B14F-4D97-AF65-F5344CB8AC3E}">
        <p14:creationId xmlns:p14="http://schemas.microsoft.com/office/powerpoint/2010/main" val="59994986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66093-A388-4DC3-8EF1-A24BF8D0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84186-D37C-43DE-9FE3-D9C3AE8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F1D16-CF0A-47FC-94DC-167F546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F3313-4524-45CE-9DD2-E185557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Đo pilot bằng thuận tiện, độ đúng và khả năng nhìn realtime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242D2-23C5-4A62-89FB-CAF083C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Pilot thành công không có nghĩa là không có lỗi. Thành công là thấy được lỗi, người phụ trách và cách sửa.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D3B2C-5081-4ECF-982F-A7273A02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18097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Thuận tiện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12012-D1AC-4212-BDEB-E4DE2E06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ít hỏi trạng thái hơn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0B0CE-AB06-4497-949B-7294C7A3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8097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Độ đúng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B6024-8761-4F86-9FE7-0CCD6293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908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số tiền, VAT, trạng thái khớp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4E78E-8F39-49FB-B4B7-6A6C8ECA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18097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4E77"/>
                </a:solidFill>
              </a:defRPr>
            </a:pPr>
            <a:r>
              <a:rPr sz="1275" b="1">
                <a:solidFill>
                  <a:srgbClr val="184E77"/>
                </a:solidFill>
              </a:rPr>
              <a:t>Realtime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344A6-1F45-47AA-AA90-4E482A8B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dashboard trả lời điểm kẹt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3789C-B748-4B93-9416-8BD83F7F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8097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2733"/>
                </a:solidFill>
              </a:defRPr>
            </a:pPr>
            <a:r>
              <a:rPr sz="1275" b="1">
                <a:solidFill>
                  <a:srgbClr val="1D2733"/>
                </a:solidFill>
              </a:rPr>
              <a:t>Kiểm soát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BB8D3-38A2-4493-8B20-0402D0E4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4707D"/>
                </a:solidFill>
              </a:defRPr>
            </a:pPr>
            <a:r>
              <a:rPr sz="1163" b="0">
                <a:solidFill>
                  <a:srgbClr val="64707D"/>
                </a:solidFill>
              </a:rPr>
              <a:t>không âm thầm bỏ qua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2A7C0-BBD7-428A-BA17-16C52A15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64707D"/>
                </a:solidFill>
              </a:defRPr>
            </a:pPr>
            <a:r>
              <a:rPr sz="1388" b="0">
                <a:solidFill>
                  <a:srgbClr val="64707D"/>
                </a:solidFill>
              </a:rPr>
              <a:t>Báo cáo cuối pilot nên gồm: số hồ sơ chạy hết luồng, điểm kẹt, sai lệch phát hiện, thời gian xử lý và đề xuất sửa.</a:t>
            </a:r>
          </a:p>
        </p:txBody>
      </p:sp>
    </p:spTree>
    <p:extLst>
      <p:ext uri="{BB962C8B-B14F-4D97-AF65-F5344CB8AC3E}">
        <p14:creationId xmlns:p14="http://schemas.microsoft.com/office/powerpoint/2010/main" val="11182646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9E8EC-D389-48FD-A043-884F2FF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7085B-95C3-451B-81B2-F07C1986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B4FFC-8DCB-4D49-892F-FA1E0048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B5639-2068-4167-9589-885562CA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Chốt năm câu hỏi trước khi bắt đầu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4CB9B-514A-4386-841B-BAB3388C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Nếu năm điểm này chưa rõ, pilot dễ trở thành demo phần mềm thay vì kiểm chứng quy trình.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C7B24-8323-4E4F-BEBB-67C3F93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478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6B565-68A5-403F-963D-8A7FB732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14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733"/>
                </a:solidFill>
              </a:defRPr>
            </a:pPr>
            <a:r>
              <a:rPr sz="1575" b="0">
                <a:solidFill>
                  <a:srgbClr val="1D2733"/>
                </a:solidFill>
              </a:rPr>
              <a:t>Nhóm đơn thường kỳ nào vào pilot?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B71ED-59AB-4976-A1E4-5E73B49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26DAC-5B08-4FB3-9B69-BC74D669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81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733"/>
                </a:solidFill>
              </a:defRPr>
            </a:pPr>
            <a:r>
              <a:rPr sz="1575" b="0">
                <a:solidFill>
                  <a:srgbClr val="1D2733"/>
                </a:solidFill>
              </a:rPr>
              <a:t>Ai là người phụ trách nghiệp vụ?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9B1EF-9D4F-4853-A999-C075A04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813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4E77"/>
                </a:solidFill>
              </a:defRPr>
            </a:pPr>
            <a:r>
              <a:rPr sz="1200" b="1">
                <a:solidFill>
                  <a:srgbClr val="184E77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F2AA8-35D0-4F79-BD1E-A3B37210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480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733"/>
                </a:solidFill>
              </a:defRPr>
            </a:pPr>
            <a:r>
              <a:rPr sz="1575" b="0">
                <a:solidFill>
                  <a:srgbClr val="1D2733"/>
                </a:solidFill>
              </a:rPr>
              <a:t>App có là nơi duyệt chính trong phạm vi pilot không?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F2403-940B-4D28-B4A0-7F4E26BF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4812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CA60D-F7ED-4E81-A617-480338AE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14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733"/>
                </a:solidFill>
              </a:defRPr>
            </a:pPr>
            <a:r>
              <a:rPr sz="1575" b="0">
                <a:solidFill>
                  <a:srgbClr val="1D2733"/>
                </a:solidFill>
              </a:rPr>
              <a:t>Viber dự phòng ghi nhận và đối soát thế nào?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5D4CB-AB30-45A1-8B9B-7F301C42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43815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4DA43-625D-4076-8F7D-AF6B7439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15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2733"/>
                </a:solidFill>
              </a:defRPr>
            </a:pPr>
            <a:r>
              <a:rPr sz="1575" b="0">
                <a:solidFill>
                  <a:srgbClr val="1D2733"/>
                </a:solidFill>
              </a:rPr>
              <a:t>Cuối pilot báo cáo theo tiêu chí nào?</a:t>
            </a:r>
          </a:p>
        </p:txBody>
      </p:sp>
    </p:spTree>
    <p:extLst>
      <p:ext uri="{BB962C8B-B14F-4D97-AF65-F5344CB8AC3E}">
        <p14:creationId xmlns:p14="http://schemas.microsoft.com/office/powerpoint/2010/main" val="155430028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D75CAD-D7BE-44A2-82D0-F160303A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8B96A3"/>
                </a:solidFill>
              </a:defRPr>
            </a:pPr>
            <a:r>
              <a:rPr sz="788" b="1">
                <a:solidFill>
                  <a:srgbClr val="8B96A3"/>
                </a:solidFill>
              </a:rPr>
              <a:t>ĐỀ NGHỊ CHỐT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8013E-16AF-45D9-A42D-352306CD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8B96A3"/>
                </a:solidFill>
              </a:defRPr>
            </a:pPr>
            <a:r>
              <a:rPr sz="788" b="0">
                <a:solidFill>
                  <a:srgbClr val="8B96A3"/>
                </a:solidFill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C57EB-8B68-4C9A-B64D-5F13F095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EAD1F-8465-4AD3-94D6-43C720C1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D2733"/>
                </a:solidFill>
              </a:defRPr>
            </a:pPr>
            <a:r>
              <a:rPr sz="2700" b="0">
                <a:solidFill>
                  <a:srgbClr val="1D2733"/>
                </a:solidFill>
              </a:rPr>
              <a:t>Xin phê duyệt pilot 2 tuần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4050D-F450-4AA9-9873-72C60E2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07D"/>
                </a:solidFill>
              </a:defRPr>
            </a:pPr>
            <a:r>
              <a:rPr sz="1275" b="0">
                <a:solidFill>
                  <a:srgbClr val="64707D"/>
                </a:solidFill>
              </a:rPr>
              <a:t>Đề nghị lãnh đạo cho phép kiểm chứng một luồng mua hàng thường kỳ đang xử lý qua Viber.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6D7EA-D35F-4792-AEBC-C9A2F457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65722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CFE1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4E77"/>
                </a:solidFill>
              </a:defRPr>
            </a:pPr>
            <a:r>
              <a:rPr sz="1500" b="1">
                <a:solidFill>
                  <a:srgbClr val="184E77"/>
                </a:solidFill>
              </a:rPr>
              <a:t>Các đơn mua hàng thường kỳ trong phạm vi pilot</a:t>
            </a:r>
          </a:p>
          <a:p xmlns:a="http://schemas.openxmlformats.org/drawingml/2006/main">
            <a:pPr algn="ctr">
              <a:defRPr sz="1500" b="1">
                <a:solidFill>
                  <a:srgbClr val="184E77"/>
                </a:solidFill>
              </a:defRPr>
            </a:pPr>
            <a:r>
              <a:rPr sz="1500" b="1">
                <a:solidFill>
                  <a:srgbClr val="184E77"/>
                </a:solidFill>
              </a:rPr>
              <a:t>sẽ được duyệt chính trong app và đi hết luồng tới chứng từ chi tiền.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3585B-766E-45FD-9432-7B921976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52875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0974F-827C-494C-A0AE-C138F71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Chốt phạm vi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1C077-12A1-471B-9298-9DC495CC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D3A4E-5404-45F6-8611-F07E8C6C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43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Chốt người phụ trách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465DF-AEB9-4BFD-9107-3700CA2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52875"/>
            <a:ext cx="2286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77FE2-9E24-47EE-9CB9-C8673F0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43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07D"/>
                </a:solidFill>
              </a:defRPr>
            </a:pPr>
            <a:r>
              <a:rPr sz="1200" b="0">
                <a:solidFill>
                  <a:srgbClr val="64707D"/>
                </a:solidFill>
              </a:rPr>
              <a:t>Chốt tiêu chí báo cáo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2E85E-DF0A-452E-BCFC-475F5EE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91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4707D"/>
                </a:solidFill>
              </a:defRPr>
            </a:pPr>
            <a:r>
              <a:rPr sz="1425" b="0">
                <a:solidFill>
                  <a:srgbClr val="64707D"/>
                </a:solidFill>
              </a:rPr>
              <a:t>Đồng ý pilot hôm nay = bắt đầu thử có kiểm soát, không phải triển khai toàn bộ.</a:t>
            </a:r>
          </a:p>
        </p:txBody>
      </p:sp>
    </p:spTree>
    <p:extLst>
      <p:ext uri="{BB962C8B-B14F-4D97-AF65-F5344CB8AC3E}">
        <p14:creationId xmlns:p14="http://schemas.microsoft.com/office/powerpoint/2010/main" val="237199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2026-07-06T15:12:08.7550000Z</dcterms:created>
  <dcterms:modified xsi:type="dcterms:W3CDTF">2026-07-06T15:12:08.7550000Z</dcterms:modified>
</coreProperties>
</file>