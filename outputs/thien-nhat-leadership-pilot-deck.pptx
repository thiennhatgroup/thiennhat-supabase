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7"/>
  </p:normalViewPr>
  <p:slideViewPr>
    <p:cSldViewPr snapToGrid="0">
      <p:cViewPr varScale="1">
        <p:scale>
          <a:sx n="94" d="100"/>
          <a:sy n="94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đầu bằng mục tiêu quyết định, không mở đầu bằng demo tính năng.</a:t>
            </a:r>
          </a:p>
          <a:p>
            <a:r>
              <a:t>Nhấn mạnh đây là alignment và xin pilot 2 tuần, chưa phải ép toàn bộ công ty chuyển ngay.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Định vị rõ: lãnh đạo đang được hỏi để quyết, không chỉ nghe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phê phán Viber; nói đúng là Viber giúp xử lý nhanh.</a:t>
            </a:r>
          </a:p>
          <a:p>
            <a:r>
              <a:t>Vấn đề là nó không phải hệ thống trạng thái và kiểm soát.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Bốn câu hỏi này là thứ dashboard/workflow phải trả lời.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Thông điệp chính: app không thay chứng từ gốc.</a:t>
            </a:r>
          </a:p>
          <a:p>
            <a:r>
              <a:t>App làm rõ workflow, trạng thái, dấu vết và dashboard realtime.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này giúp lãnh đạo yên tâm: mình không oversell.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 phải all the way đến chi tiền và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Nếu sai thì ai chịu trách nhiệm? Trả lời theo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Nói authority và traceability, không đi sâu kỹ thuật.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Chứng từ hợp lệ thắng về pháp lý/kế toán; app vẫn phải được sửa để khớp.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cần giải thích RLS/RPC; nói bằng ngôn ngữ vận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Nói rõ đây chưa phải tính năng đã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Phạm vi hẹp nhưng flow phải thật đến payment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Scoping bằng routine lane, không chỉ bằng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Viber không bị cấm; nó không còn là approval record chính trong scope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Fallback là để business không bị ngưng, nhưng phải có blocker log và reconcile.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Đổi mindset: pilot có lỗi là bình thường. Thành công là learning có cấu trúc.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Nếu mọi người vẫn chase qua Viber, pilot chưa đạt convenience.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Accuracy là app khớp thực tế/offline.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Dashboard không cần đẹp trước; cần trả lời đúng câu hỏi vận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 không che lỗi; nó làm lỗi hiện rõ và xử lý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V1 dùng wireframe do browser automation bị sandbox chặn. Khi có screenshot thật, có thể thay vào mà không đổi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Trong họp thật, demo một case routine trong scope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Huy là product/support owner; business owner nên là kế toán trưởng hoặc KTTH.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ai bị ép go-live sau buổi họp, nhưng cũng không để pilot trôi vô hạn.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Danh sách quyết định cần chốt để greenlight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Kết thúc bằng ask cụ thể. Nếu leadership đồng ý ba checkbox, có thể chạy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C36606-B784-4082-8507-68C5BF23D4D8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Thiên Nhật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6BBD7E-C5BA-4E22-8006-F8C774DFF0F0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048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171717"/>
                </a:solidFill>
              </a:defRPr>
            </a:pPr>
            <a:r>
              <a:rPr sz="4200" b="1">
                <a:solidFill>
                  <a:srgbClr val="171717"/>
                </a:solidFill>
              </a:rPr>
              <a:t>Phần mềm</a:t>
            </a:r>
          </a:p>
          <a:p>
            <a:pPr algn="l">
              <a:defRPr sz="4200" b="1">
                <a:solidFill>
                  <a:srgbClr val="171717"/>
                </a:solidFill>
              </a:defRPr>
            </a:pPr>
            <a:r>
              <a:rPr sz="4200" b="1">
                <a:solidFill>
                  <a:srgbClr val="171717"/>
                </a:solidFill>
              </a:rPr>
              <a:t>Mua hàng &amp; Công nợ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5F6098-B967-45B4-B090-09C26E1749E1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666666"/>
                </a:solidFill>
              </a:defRPr>
            </a:pPr>
            <a:r>
              <a:rPr sz="1950" b="0">
                <a:solidFill>
                  <a:srgbClr val="666666"/>
                </a:solidFill>
              </a:rPr>
              <a:t>Buổi đồng thuận lãnh đạo</a:t>
            </a:r>
          </a:p>
          <a:p>
            <a:pPr algn="l">
              <a:defRPr sz="1950" b="0">
                <a:solidFill>
                  <a:srgbClr val="666666"/>
                </a:solidFill>
              </a:defRPr>
            </a:pPr>
            <a:r>
              <a:rPr sz="1950" b="0">
                <a:solidFill>
                  <a:srgbClr val="666666"/>
                </a:solidFill>
              </a:rPr>
              <a:t>Xin phê duyệt pilot 2 tuần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DDD2CA-B0CD-476F-9A0C-B89F99BFF60A}"/>
              </a:ext>
            </a:extLst>
          </p:cNvPr>
          <p:cNvSpPr>
            <a:spLocks noGrp="1"/>
          </p:cNvSpPr>
          <p:nvPr/>
        </p:nvSpPr>
        <p:spPr>
          <a:xfrm>
            <a:off x="7429500" y="2000250"/>
            <a:ext cx="1143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Hôm nay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908ED66-6FC0-461E-B307-DBE98475E806}"/>
              </a:ext>
            </a:extLst>
          </p:cNvPr>
          <p:cNvSpPr>
            <a:spLocks noGrp="1"/>
          </p:cNvSpPr>
          <p:nvPr/>
        </p:nvSpPr>
        <p:spPr>
          <a:xfrm>
            <a:off x="8953500" y="2000250"/>
            <a:ext cx="1143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Chốt</a:t>
            </a:r>
          </a:p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phạm vi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D37322-551D-4B09-8119-FAD71154A4B6}"/>
              </a:ext>
            </a:extLst>
          </p:cNvPr>
          <p:cNvSpPr>
            <a:spLocks noGrp="1"/>
          </p:cNvSpPr>
          <p:nvPr/>
        </p:nvSpPr>
        <p:spPr>
          <a:xfrm>
            <a:off x="10477500" y="2000250"/>
            <a:ext cx="1143000" cy="85725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Pilot</a:t>
            </a:r>
          </a:p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2 tuần</a:t>
            </a:r>
          </a:p>
        </p:txBody>
      </p:sp>
      <p:cxnSp>
        <p:nvCxnSpPr>
          <p:cNvPr id="16" name="Straight Arrow Connector 15"/>
          <p:cNvCxnSpPr>
            <a:stCxn id="4" idx="3"/>
            <a:endCxn id="5" idx="1"/>
          </p:cNvCxnSpPr>
          <p:nvPr/>
        </p:nvCxnSpPr>
        <p:spPr>
          <a:xfrm>
            <a:off x="8572500" y="2428875"/>
            <a:ext cx="38100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7" name="Straight Arrow Connector 16"/>
          <p:cNvCxnSpPr>
            <a:stCxn id="5" idx="3"/>
            <a:endCxn id="6" idx="1"/>
          </p:cNvCxnSpPr>
          <p:nvPr/>
        </p:nvCxnSpPr>
        <p:spPr>
          <a:xfrm>
            <a:off x="10096500" y="2428875"/>
            <a:ext cx="38100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D58E259-005B-4171-BFB6-0901EC9D796D}"/>
              </a:ext>
            </a:extLst>
          </p:cNvPr>
          <p:cNvSpPr>
            <a:spLocks noGrp="1"/>
          </p:cNvSpPr>
          <p:nvPr/>
        </p:nvSpPr>
        <p:spPr>
          <a:xfrm>
            <a:off x="7429500" y="3314700"/>
            <a:ext cx="4000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Mục tiêu không phải triển khai toàn bộ ngay.</a:t>
            </a:r>
          </a:p>
          <a:p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Mục tiêu là đồng thuận để kiểm chứng thật, có kiểm soát.</a:t>
            </a:r>
          </a:p>
        </p:txBody>
      </p:sp>
    </p:spTree>
    <p:extLst>
      <p:ext uri="{BB962C8B-B14F-4D97-AF65-F5344CB8AC3E}">
        <p14:creationId xmlns:p14="http://schemas.microsoft.com/office/powerpoint/2010/main" val="67479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2262B0-7F18-49C5-8762-DC0530CD0E82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MỤC TIÊU BUỔI HỌP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96E7B8-FAAF-48F9-A664-A57F57574F4E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Hôm nay cần ra một quyết định rõ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EC9359A-0992-4B99-8277-A294194E2D51}"/>
              </a:ext>
            </a:extLst>
          </p:cNvPr>
          <p:cNvSpPr>
            <a:spLocks noGrp="1"/>
          </p:cNvSpPr>
          <p:nvPr/>
        </p:nvSpPr>
        <p:spPr>
          <a:xfrm>
            <a:off x="1123950" y="2247900"/>
            <a:ext cx="2667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Đồng thuận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về vấn đề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C3F699-E654-41A7-97C5-9D48CABFA9A7}"/>
              </a:ext>
            </a:extLst>
          </p:cNvPr>
          <p:cNvSpPr>
            <a:spLocks noGrp="1"/>
          </p:cNvSpPr>
          <p:nvPr/>
        </p:nvSpPr>
        <p:spPr>
          <a:xfrm>
            <a:off x="4762500" y="2247900"/>
            <a:ext cx="2667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Chốt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phạm vi pilot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7FB8572-D73F-468C-B6A7-DD9CE482EA07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2667000" cy="161925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Đồng ý pilot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2 tuần</a:t>
            </a:r>
          </a:p>
        </p:txBody>
      </p:sp>
      <p:cxnSp>
        <p:nvCxnSpPr>
          <p:cNvPr id="16" name="Straight Arrow Connector 15"/>
          <p:cNvCxnSpPr>
            <a:stCxn id="3" idx="3"/>
            <a:endCxn id="4" idx="1"/>
          </p:cNvCxnSpPr>
          <p:nvPr/>
        </p:nvCxnSpPr>
        <p:spPr>
          <a:xfrm>
            <a:off x="3790950" y="3057525"/>
            <a:ext cx="97155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7" name="Straight Arrow Connector 16"/>
          <p:cNvCxnSpPr>
            <a:stCxn id="4" idx="3"/>
            <a:endCxn id="5" idx="1"/>
          </p:cNvCxnSpPr>
          <p:nvPr/>
        </p:nvCxnSpPr>
        <p:spPr>
          <a:xfrm>
            <a:off x="7429500" y="3057525"/>
            <a:ext cx="97155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B1D9B41-8E10-4172-8026-02297E415B45}"/>
              </a:ext>
            </a:extLst>
          </p:cNvPr>
          <p:cNvSpPr>
            <a:spLocks noGrp="1"/>
          </p:cNvSpPr>
          <p:nvPr/>
        </p:nvSpPr>
        <p:spPr>
          <a:xfrm>
            <a:off x="2476500" y="455295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Nếu cuối buổi không chốt được pilot, tài liệu này chỉ là một buổi giới thiệu phần mềm.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24D0B-0B01-421C-94FC-CA5F6D572173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02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E7B4BC4-8526-43DE-B5F5-005E7167F0AC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1699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9A5AC7-D333-4277-A719-462273C8781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HIỆN TRẠNG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00B628-9840-4350-9A33-7D4D65E08BAC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Viber đang xử lý nhanh, nhưng trạng thái bị phân tán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3DAA68-5CC1-41E1-96B4-0BEE7BD253D2}"/>
              </a:ext>
            </a:extLst>
          </p:cNvPr>
          <p:cNvSpPr>
            <a:spLocks noGrp="1"/>
          </p:cNvSpPr>
          <p:nvPr/>
        </p:nvSpPr>
        <p:spPr>
          <a:xfrm>
            <a:off x="4953000" y="2590800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Viber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9B53F5A-CA35-4076-BFF5-D9734F065B82}"/>
              </a:ext>
            </a:extLst>
          </p:cNvPr>
          <p:cNvSpPr>
            <a:spLocks noGrp="1"/>
          </p:cNvSpPr>
          <p:nvPr/>
        </p:nvSpPr>
        <p:spPr>
          <a:xfrm>
            <a:off x="1600200" y="1752600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F3F3F1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Đề xuất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5429EE-AF83-4773-AFE9-FFD8B6B8D498}"/>
              </a:ext>
            </a:extLst>
          </p:cNvPr>
          <p:cNvSpPr>
            <a:spLocks noGrp="1"/>
          </p:cNvSpPr>
          <p:nvPr/>
        </p:nvSpPr>
        <p:spPr>
          <a:xfrm>
            <a:off x="8191500" y="1676400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F3F3F1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Duyệt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067DCF-0884-4E9C-A9A9-EBEED7EF18A0}"/>
              </a:ext>
            </a:extLst>
          </p:cNvPr>
          <p:cNvSpPr>
            <a:spLocks noGrp="1"/>
          </p:cNvSpPr>
          <p:nvPr/>
        </p:nvSpPr>
        <p:spPr>
          <a:xfrm>
            <a:off x="1485900" y="4362450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F3F3F1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Chứng từ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C0090D-48A6-4D4D-9BF5-D1E2F2DF4011}"/>
              </a:ext>
            </a:extLst>
          </p:cNvPr>
          <p:cNvSpPr>
            <a:spLocks noGrp="1"/>
          </p:cNvSpPr>
          <p:nvPr/>
        </p:nvSpPr>
        <p:spPr>
          <a:xfrm>
            <a:off x="8172450" y="4457700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F3F3F1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Thanh toán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A1CE25-E9F5-4C9D-88E7-8BF6372E4175}"/>
              </a:ext>
            </a:extLst>
          </p:cNvPr>
          <p:cNvSpPr>
            <a:spLocks noGrp="1"/>
          </p:cNvSpPr>
          <p:nvPr/>
        </p:nvSpPr>
        <p:spPr>
          <a:xfrm>
            <a:off x="4857750" y="4972050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F3F3F1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Công nợ</a:t>
            </a:r>
          </a:p>
        </p:txBody>
      </p:sp>
      <p:cxnSp>
        <p:nvCxnSpPr>
          <p:cNvPr id="25" name="Straight Arrow Connector 24"/>
          <p:cNvCxnSpPr>
            <a:cxnSpLocks/>
            <a:stCxn id="3" idx="1"/>
            <a:endCxn id="4" idx="3"/>
          </p:cNvCxnSpPr>
          <p:nvPr/>
        </p:nvCxnSpPr>
        <p:spPr>
          <a:xfrm flipH="1" flipV="1">
            <a:off x="3600450" y="2105025"/>
            <a:ext cx="1352550" cy="1009650"/>
          </a:xfrm>
          <a:prstGeom prst="straightConnector1">
            <a:avLst/>
          </a:prstGeom>
          <a:ln w="14288">
            <a:solidFill>
              <a:srgbClr val="A7A7A2"/>
            </a:solidFill>
            <a:prstDash val="dash"/>
          </a:ln>
        </p:spPr>
      </p:cxnSp>
      <p:cxnSp>
        <p:nvCxnSpPr>
          <p:cNvPr id="26" name="Straight Arrow Connector 25"/>
          <p:cNvCxnSpPr>
            <a:cxnSpLocks/>
            <a:stCxn id="5" idx="1"/>
            <a:endCxn id="3" idx="3"/>
          </p:cNvCxnSpPr>
          <p:nvPr/>
        </p:nvCxnSpPr>
        <p:spPr>
          <a:xfrm flipH="1">
            <a:off x="7239000" y="2028825"/>
            <a:ext cx="952500" cy="1085850"/>
          </a:xfrm>
          <a:prstGeom prst="straightConnector1">
            <a:avLst/>
          </a:prstGeom>
          <a:ln w="14288">
            <a:solidFill>
              <a:srgbClr val="A7A7A2"/>
            </a:solidFill>
            <a:prstDash val="dash"/>
          </a:ln>
        </p:spPr>
      </p:cxnSp>
      <p:cxnSp>
        <p:nvCxnSpPr>
          <p:cNvPr id="27" name="Straight Arrow Connector 26"/>
          <p:cNvCxnSpPr>
            <a:cxnSpLocks/>
            <a:stCxn id="3" idx="1"/>
          </p:cNvCxnSpPr>
          <p:nvPr/>
        </p:nvCxnSpPr>
        <p:spPr>
          <a:xfrm flipH="1">
            <a:off x="2279176" y="3114675"/>
            <a:ext cx="2673824" cy="1247775"/>
          </a:xfrm>
          <a:prstGeom prst="straightConnector1">
            <a:avLst/>
          </a:prstGeom>
          <a:ln w="14288">
            <a:solidFill>
              <a:srgbClr val="A7A7A2"/>
            </a:solidFill>
            <a:prstDash val="dash"/>
          </a:ln>
        </p:spPr>
      </p:cxnSp>
      <p:cxnSp>
        <p:nvCxnSpPr>
          <p:cNvPr id="28" name="Straight Arrow Connector 27"/>
          <p:cNvCxnSpPr>
            <a:stCxn id="3" idx="3"/>
            <a:endCxn id="7" idx="1"/>
          </p:cNvCxnSpPr>
          <p:nvPr/>
        </p:nvCxnSpPr>
        <p:spPr>
          <a:xfrm>
            <a:off x="7239000" y="3114675"/>
            <a:ext cx="933450" cy="1695450"/>
          </a:xfrm>
          <a:prstGeom prst="straightConnector1">
            <a:avLst/>
          </a:prstGeom>
          <a:ln w="14288">
            <a:solidFill>
              <a:srgbClr val="A7A7A2"/>
            </a:solidFill>
            <a:prstDash val="dash"/>
          </a:ln>
        </p:spPr>
      </p:cxnSp>
      <p:cxnSp>
        <p:nvCxnSpPr>
          <p:cNvPr id="29" name="Straight Arrow Connector 28"/>
          <p:cNvCxnSpPr>
            <a:cxnSpLocks/>
            <a:stCxn id="3" idx="2"/>
            <a:endCxn id="8" idx="0"/>
          </p:cNvCxnSpPr>
          <p:nvPr/>
        </p:nvCxnSpPr>
        <p:spPr>
          <a:xfrm flipH="1">
            <a:off x="5857875" y="3638550"/>
            <a:ext cx="238125" cy="1333500"/>
          </a:xfrm>
          <a:prstGeom prst="straightConnector1">
            <a:avLst/>
          </a:prstGeom>
          <a:ln w="14288">
            <a:solidFill>
              <a:srgbClr val="A7A7A2"/>
            </a:solidFill>
            <a:prstDash val="dash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C96749F-28C0-41EB-A944-133123D9F9D6}"/>
              </a:ext>
            </a:extLst>
          </p:cNvPr>
          <p:cNvSpPr>
            <a:spLocks noGrp="1"/>
          </p:cNvSpPr>
          <p:nvPr/>
        </p:nvSpPr>
        <p:spPr>
          <a:xfrm>
            <a:off x="3238500" y="5905500"/>
            <a:ext cx="571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Một nhóm chat có thể nhanh.</a:t>
            </a:r>
          </a:p>
          <a:p>
            <a:pPr algn="ctr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Nhưng nó không tự tạo trách nhiệm, trạng thái và dashboard.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47C0C0-E24D-44F3-B715-067BE360C6B8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03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CA01BFA-4B7B-4E41-AF2D-5B4DD71F6450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5618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A7AF00A-DF3C-41F7-B34E-BAB147913434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VẤN ĐỀ VẬN HÀNH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7F92E-5F28-4257-BF7F-80028A706F3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Câu hỏi lớn không phải “ai đã nhắn?”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89DCBEA-1F6F-4A6F-886A-129C8B959856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Đơn đang ở đâu?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9CFC7D9-DE36-45EA-B135-957A4EEEDC54}"/>
              </a:ext>
            </a:extLst>
          </p:cNvPr>
          <p:cNvSpPr>
            <a:spLocks noGrp="1"/>
          </p:cNvSpPr>
          <p:nvPr/>
        </p:nvSpPr>
        <p:spPr>
          <a:xfrm>
            <a:off x="3657600" y="217170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Ai giữ bước tiếp theo?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8C606E-6792-480C-A258-75EB6740EB42}"/>
              </a:ext>
            </a:extLst>
          </p:cNvPr>
          <p:cNvSpPr>
            <a:spLocks noGrp="1"/>
          </p:cNvSpPr>
          <p:nvPr/>
        </p:nvSpPr>
        <p:spPr>
          <a:xfrm>
            <a:off x="6038850" y="217170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Hồ sơ đủ chưa?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8ACFF7-14FE-4A1B-9E4D-3A1E6DDFF26E}"/>
              </a:ext>
            </a:extLst>
          </p:cNvPr>
          <p:cNvSpPr>
            <a:spLocks noGrp="1"/>
          </p:cNvSpPr>
          <p:nvPr/>
        </p:nvSpPr>
        <p:spPr>
          <a:xfrm>
            <a:off x="8420100" y="217170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Đã chi tiền chưa?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8150BB-A4A5-4FA2-AC70-E0F1ED4C273F}"/>
              </a:ext>
            </a:extLst>
          </p:cNvPr>
          <p:cNvSpPr>
            <a:spLocks noGrp="1"/>
          </p:cNvSpPr>
          <p:nvPr/>
        </p:nvSpPr>
        <p:spPr>
          <a:xfrm>
            <a:off x="1981200" y="4438650"/>
            <a:ext cx="8229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Câu hỏi lớn là: hệ thống có trả lời được ngay không?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ED31EE-590F-44EF-A8A4-D525370975C8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04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B20D4C8-180A-49EA-9558-DA9930597604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9512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5049D-C39F-4644-8FB7-AC0F4EF8F9C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LUẬN ĐIỂM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9F301A-36CF-4C04-A195-F942E8E08F6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App là lớp quy trình và kiểm soát realtime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618AE3-5E65-4D84-940A-E7B36505155A}"/>
              </a:ext>
            </a:extLst>
          </p:cNvPr>
          <p:cNvSpPr>
            <a:spLocks noGrp="1"/>
          </p:cNvSpPr>
          <p:nvPr/>
        </p:nvSpPr>
        <p:spPr>
          <a:xfrm>
            <a:off x="1885950" y="1847850"/>
            <a:ext cx="84201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Chứng từ gốc / quy trình hiện tại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EAEA4-6E77-453C-A4A0-1773762A3E7E}"/>
              </a:ext>
            </a:extLst>
          </p:cNvPr>
          <p:cNvSpPr>
            <a:spLocks noGrp="1"/>
          </p:cNvSpPr>
          <p:nvPr/>
        </p:nvSpPr>
        <p:spPr>
          <a:xfrm>
            <a:off x="1885950" y="2990850"/>
            <a:ext cx="8420100" cy="704850"/>
          </a:xfrm>
          <a:prstGeom prst="roundRect">
            <a:avLst>
              <a:gd name="adj" fmla="val 10811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App: trạng thái, phân quyền, dấu vết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6ADA350-314E-40AC-BDD9-78920BD6E802}"/>
              </a:ext>
            </a:extLst>
          </p:cNvPr>
          <p:cNvSpPr>
            <a:spLocks noGrp="1"/>
          </p:cNvSpPr>
          <p:nvPr/>
        </p:nvSpPr>
        <p:spPr>
          <a:xfrm>
            <a:off x="1885950" y="4133850"/>
            <a:ext cx="84201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Dashboard: nhìn thấy việc đang kẹt ở đâu</a:t>
            </a:r>
          </a:p>
        </p:txBody>
      </p:sp>
      <p:cxnSp>
        <p:nvCxnSpPr>
          <p:cNvPr id="15" name="Straight Arrow Connector 14"/>
          <p:cNvCxnSpPr>
            <a:stCxn id="3" idx="2"/>
            <a:endCxn id="4" idx="0"/>
          </p:cNvCxnSpPr>
          <p:nvPr/>
        </p:nvCxnSpPr>
        <p:spPr>
          <a:xfrm>
            <a:off x="6096000" y="2552700"/>
            <a:ext cx="0" cy="43815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6" name="Straight Arrow Connector 15"/>
          <p:cNvCxnSpPr>
            <a:stCxn id="4" idx="2"/>
            <a:endCxn id="5" idx="0"/>
          </p:cNvCxnSpPr>
          <p:nvPr/>
        </p:nvCxnSpPr>
        <p:spPr>
          <a:xfrm>
            <a:off x="6096000" y="3695700"/>
            <a:ext cx="0" cy="43815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D84A1E7-A0A8-49E5-970A-47A0803E517A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05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F925777-BB73-4E34-A8ED-216678D8D965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85123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EA6234A-FC72-42FA-91B0-1F1BBFC10C89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RANH GIỚI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C29590-3BB2-42BB-9120-DACC49E83687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Nói đúng phạm vi để tránh hiểu nhầm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2ED7E9-0EC3-42AB-A5C0-03E3F7E9DDCE}"/>
              </a:ext>
            </a:extLst>
          </p:cNvPr>
          <p:cNvSpPr>
            <a:spLocks noGrp="1"/>
          </p:cNvSpPr>
          <p:nvPr/>
        </p:nvSpPr>
        <p:spPr>
          <a:xfrm>
            <a:off x="952500" y="1771650"/>
            <a:ext cx="47625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F74A6E-5C00-4B9C-A0C7-93FFE7DB6F7A}"/>
              </a:ext>
            </a:extLst>
          </p:cNvPr>
          <p:cNvSpPr>
            <a:spLocks noGrp="1"/>
          </p:cNvSpPr>
          <p:nvPr/>
        </p:nvSpPr>
        <p:spPr>
          <a:xfrm>
            <a:off x="6477000" y="1771650"/>
            <a:ext cx="47625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CF0A37-0D16-4784-AE5A-95AE1DA2228B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422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App dùng để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20C428-87F5-46FF-97E0-35EA799005FF}"/>
              </a:ext>
            </a:extLst>
          </p:cNvPr>
          <p:cNvSpPr>
            <a:spLocks noGrp="1"/>
          </p:cNvSpPr>
          <p:nvPr/>
        </p:nvSpPr>
        <p:spPr>
          <a:xfrm>
            <a:off x="6743700" y="2057400"/>
            <a:ext cx="422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App không phải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B3006C-E3CD-4FFD-A619-2B1C6DD2B8FB}"/>
              </a:ext>
            </a:extLst>
          </p:cNvPr>
          <p:cNvSpPr>
            <a:spLocks noGrp="1"/>
          </p:cNvSpPr>
          <p:nvPr/>
        </p:nvSpPr>
        <p:spPr>
          <a:xfrm>
            <a:off x="1162050" y="2771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solidFill>
              <a:srgbClr val="0E5AA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23776F-DC85-4198-8B2C-3B0573E0DAAB}"/>
              </a:ext>
            </a:extLst>
          </p:cNvPr>
          <p:cNvSpPr>
            <a:spLocks noGrp="1"/>
          </p:cNvSpPr>
          <p:nvPr/>
        </p:nvSpPr>
        <p:spPr>
          <a:xfrm>
            <a:off x="1390650" y="26860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Chuẩn hóa thao tác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68FC96-6D7F-4D66-BC47-347744E6A055}"/>
              </a:ext>
            </a:extLst>
          </p:cNvPr>
          <p:cNvSpPr>
            <a:spLocks noGrp="1"/>
          </p:cNvSpPr>
          <p:nvPr/>
        </p:nvSpPr>
        <p:spPr>
          <a:xfrm>
            <a:off x="1162050" y="3324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solidFill>
              <a:srgbClr val="0E5AA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BB90EA-6528-4611-BADA-06C715982D4A}"/>
              </a:ext>
            </a:extLst>
          </p:cNvPr>
          <p:cNvSpPr>
            <a:spLocks noGrp="1"/>
          </p:cNvSpPr>
          <p:nvPr/>
        </p:nvSpPr>
        <p:spPr>
          <a:xfrm>
            <a:off x="1390650" y="32385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Theo dõi trạng thái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97BA2D-3024-4491-A436-E8C7425B17C3}"/>
              </a:ext>
            </a:extLst>
          </p:cNvPr>
          <p:cNvSpPr>
            <a:spLocks noGrp="1"/>
          </p:cNvSpPr>
          <p:nvPr/>
        </p:nvSpPr>
        <p:spPr>
          <a:xfrm>
            <a:off x="1162050" y="3876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solidFill>
              <a:srgbClr val="0E5AA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982E72-71CA-4648-8138-5A7829ADAE3C}"/>
              </a:ext>
            </a:extLst>
          </p:cNvPr>
          <p:cNvSpPr>
            <a:spLocks noGrp="1"/>
          </p:cNvSpPr>
          <p:nvPr/>
        </p:nvSpPr>
        <p:spPr>
          <a:xfrm>
            <a:off x="1390650" y="37909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Gắn trách nhiệm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99C7D2-F773-4CC7-A711-435D12BFFFE8}"/>
              </a:ext>
            </a:extLst>
          </p:cNvPr>
          <p:cNvSpPr>
            <a:spLocks noGrp="1"/>
          </p:cNvSpPr>
          <p:nvPr/>
        </p:nvSpPr>
        <p:spPr>
          <a:xfrm>
            <a:off x="1162050" y="4429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solidFill>
              <a:srgbClr val="0E5AA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DB3066-48B2-4310-99D7-EC7AACB84F0C}"/>
              </a:ext>
            </a:extLst>
          </p:cNvPr>
          <p:cNvSpPr>
            <a:spLocks noGrp="1"/>
          </p:cNvSpPr>
          <p:nvPr/>
        </p:nvSpPr>
        <p:spPr>
          <a:xfrm>
            <a:off x="1390650" y="43434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Tạo dữ liệu tức thời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B80E951-141A-4601-9ABB-4A91C4B39949}"/>
              </a:ext>
            </a:extLst>
          </p:cNvPr>
          <p:cNvSpPr>
            <a:spLocks noGrp="1"/>
          </p:cNvSpPr>
          <p:nvPr/>
        </p:nvSpPr>
        <p:spPr>
          <a:xfrm>
            <a:off x="6686550" y="2771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944AB3-170E-4A8A-8FEA-7ECF27430BC4}"/>
              </a:ext>
            </a:extLst>
          </p:cNvPr>
          <p:cNvSpPr>
            <a:spLocks noGrp="1"/>
          </p:cNvSpPr>
          <p:nvPr/>
        </p:nvSpPr>
        <p:spPr>
          <a:xfrm>
            <a:off x="6915150" y="26860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Thay toàn bộ hồ sơ giấy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D51ED08-684B-4A2F-91DC-696DAE5B1563}"/>
              </a:ext>
            </a:extLst>
          </p:cNvPr>
          <p:cNvSpPr>
            <a:spLocks noGrp="1"/>
          </p:cNvSpPr>
          <p:nvPr/>
        </p:nvSpPr>
        <p:spPr>
          <a:xfrm>
            <a:off x="6686550" y="3324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D752A3-F174-431C-A091-724DC8977002}"/>
              </a:ext>
            </a:extLst>
          </p:cNvPr>
          <p:cNvSpPr>
            <a:spLocks noGrp="1"/>
          </p:cNvSpPr>
          <p:nvPr/>
        </p:nvSpPr>
        <p:spPr>
          <a:xfrm>
            <a:off x="6915150" y="32385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Hợp thức hóa thiếu chứng từ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06A9D22-CA90-4F79-9021-8CAF85E1E91D}"/>
              </a:ext>
            </a:extLst>
          </p:cNvPr>
          <p:cNvSpPr>
            <a:spLocks noGrp="1"/>
          </p:cNvSpPr>
          <p:nvPr/>
        </p:nvSpPr>
        <p:spPr>
          <a:xfrm>
            <a:off x="6686550" y="3876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FE0EE6-02A1-4698-9733-2C3C4A295039}"/>
              </a:ext>
            </a:extLst>
          </p:cNvPr>
          <p:cNvSpPr>
            <a:spLocks noGrp="1"/>
          </p:cNvSpPr>
          <p:nvPr/>
        </p:nvSpPr>
        <p:spPr>
          <a:xfrm>
            <a:off x="6915150" y="37909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Xóa trách nhiệm từng vai trò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1A3B07-D161-4B5D-8C3B-8245335A27F9}"/>
              </a:ext>
            </a:extLst>
          </p:cNvPr>
          <p:cNvSpPr>
            <a:spLocks noGrp="1"/>
          </p:cNvSpPr>
          <p:nvPr/>
        </p:nvSpPr>
        <p:spPr>
          <a:xfrm>
            <a:off x="6686550" y="4429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A08884-810E-496D-ABB7-72ADEBD1ADD1}"/>
              </a:ext>
            </a:extLst>
          </p:cNvPr>
          <p:cNvSpPr>
            <a:spLocks noGrp="1"/>
          </p:cNvSpPr>
          <p:nvPr/>
        </p:nvSpPr>
        <p:spPr>
          <a:xfrm>
            <a:off x="6915150" y="43434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Thay quyết định lãnh đạo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55F8DD-F468-405E-BD10-23B88ED58B30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06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12A3D3C-75A5-498A-ADAE-6B0F3D6A99E3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2225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703038-4F42-4ACE-935F-5421B2A6340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FLOW MỤC TIÊU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76C8BA-D794-4E5B-88BD-A2F0D941B4B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Một đơn thường kỳ cần đi hết vòng đời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5AC6DE2-B53C-4F86-9004-AD5A79CFE238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123950" cy="704850"/>
          </a:xfrm>
          <a:prstGeom prst="roundRect">
            <a:avLst>
              <a:gd name="adj" fmla="val 10811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DXMH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6C3D9A6-E7A6-47BF-9008-7DE2CC0308DC}"/>
              </a:ext>
            </a:extLst>
          </p:cNvPr>
          <p:cNvSpPr>
            <a:spLocks noGrp="1"/>
          </p:cNvSpPr>
          <p:nvPr/>
        </p:nvSpPr>
        <p:spPr>
          <a:xfrm>
            <a:off x="2114550" y="2857500"/>
            <a:ext cx="11239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Duyệt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8D836B-F1E6-4277-AF80-BCCE468A80FF}"/>
              </a:ext>
            </a:extLst>
          </p:cNvPr>
          <p:cNvSpPr>
            <a:spLocks noGrp="1"/>
          </p:cNvSpPr>
          <p:nvPr/>
        </p:nvSpPr>
        <p:spPr>
          <a:xfrm>
            <a:off x="4152900" y="2857500"/>
            <a:ext cx="11239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Nghiệm thu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0712D1-1EF5-4A02-AA90-166DC28D9DDC}"/>
              </a:ext>
            </a:extLst>
          </p:cNvPr>
          <p:cNvSpPr>
            <a:spLocks noGrp="1"/>
          </p:cNvSpPr>
          <p:nvPr/>
        </p:nvSpPr>
        <p:spPr>
          <a:xfrm>
            <a:off x="5991225" y="2850107"/>
            <a:ext cx="11239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DXTT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A4C3F1A-88D9-4421-BD7C-3ECAA983FB82}"/>
              </a:ext>
            </a:extLst>
          </p:cNvPr>
          <p:cNvSpPr>
            <a:spLocks noGrp="1"/>
          </p:cNvSpPr>
          <p:nvPr/>
        </p:nvSpPr>
        <p:spPr>
          <a:xfrm>
            <a:off x="7829550" y="2857500"/>
            <a:ext cx="11239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Duyệt chi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5581EDA-5FB6-4952-A5B9-5CBE50B17DFD}"/>
              </a:ext>
            </a:extLst>
          </p:cNvPr>
          <p:cNvSpPr>
            <a:spLocks noGrp="1"/>
          </p:cNvSpPr>
          <p:nvPr/>
        </p:nvSpPr>
        <p:spPr>
          <a:xfrm>
            <a:off x="9258300" y="2857500"/>
            <a:ext cx="11239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Thủ quỹ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E42597-50A6-414B-92ED-5165889FF8FE}"/>
              </a:ext>
            </a:extLst>
          </p:cNvPr>
          <p:cNvSpPr>
            <a:spLocks noGrp="1"/>
          </p:cNvSpPr>
          <p:nvPr/>
        </p:nvSpPr>
        <p:spPr>
          <a:xfrm>
            <a:off x="10687050" y="2857500"/>
            <a:ext cx="1123950" cy="704850"/>
          </a:xfrm>
          <a:prstGeom prst="roundRect">
            <a:avLst>
              <a:gd name="adj" fmla="val 10811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Công nợ</a:t>
            </a:r>
          </a:p>
        </p:txBody>
      </p:sp>
      <p:cxnSp>
        <p:nvCxnSpPr>
          <p:cNvPr id="31" name="Straight Arrow Connector 30"/>
          <p:cNvCxnSpPr>
            <a:stCxn id="3" idx="3"/>
            <a:endCxn id="4" idx="1"/>
          </p:cNvCxnSpPr>
          <p:nvPr/>
        </p:nvCxnSpPr>
        <p:spPr>
          <a:xfrm>
            <a:off x="1809750" y="3209925"/>
            <a:ext cx="304800" cy="0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cxnSp>
        <p:nvCxnSpPr>
          <p:cNvPr id="32" name="Straight Arrow Connector 31"/>
          <p:cNvCxnSpPr>
            <a:stCxn id="4" idx="3"/>
            <a:endCxn id="5" idx="1"/>
          </p:cNvCxnSpPr>
          <p:nvPr/>
        </p:nvCxnSpPr>
        <p:spPr>
          <a:xfrm>
            <a:off x="3238500" y="3209925"/>
            <a:ext cx="914400" cy="0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cxnSp>
        <p:nvCxnSpPr>
          <p:cNvPr id="33" name="Straight Arrow Connector 32"/>
          <p:cNvCxnSpPr>
            <a:cxnSpLocks/>
            <a:stCxn id="5" idx="3"/>
            <a:endCxn id="7" idx="1"/>
          </p:cNvCxnSpPr>
          <p:nvPr/>
        </p:nvCxnSpPr>
        <p:spPr>
          <a:xfrm flipV="1">
            <a:off x="5276850" y="3202532"/>
            <a:ext cx="714375" cy="7393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cxnSp>
        <p:nvCxnSpPr>
          <p:cNvPr id="34" name="Straight Arrow Connector 33"/>
          <p:cNvCxnSpPr>
            <a:cxnSpLocks/>
            <a:endCxn id="7" idx="1"/>
          </p:cNvCxnSpPr>
          <p:nvPr/>
        </p:nvCxnSpPr>
        <p:spPr>
          <a:xfrm>
            <a:off x="5686425" y="3202532"/>
            <a:ext cx="304800" cy="0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cxnSp>
        <p:nvCxnSpPr>
          <p:cNvPr id="35" name="Straight Arrow Connector 34"/>
          <p:cNvCxnSpPr>
            <a:stCxn id="7" idx="3"/>
            <a:endCxn id="8" idx="1"/>
          </p:cNvCxnSpPr>
          <p:nvPr/>
        </p:nvCxnSpPr>
        <p:spPr>
          <a:xfrm>
            <a:off x="7115175" y="3202532"/>
            <a:ext cx="714375" cy="7393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cxnSp>
        <p:nvCxnSpPr>
          <p:cNvPr id="36" name="Straight Arrow Connector 35"/>
          <p:cNvCxnSpPr>
            <a:stCxn id="8" idx="3"/>
            <a:endCxn id="9" idx="1"/>
          </p:cNvCxnSpPr>
          <p:nvPr/>
        </p:nvCxnSpPr>
        <p:spPr>
          <a:xfrm>
            <a:off x="8953500" y="3209925"/>
            <a:ext cx="304800" cy="0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cxnSp>
        <p:nvCxnSpPr>
          <p:cNvPr id="37" name="Straight Arrow Connector 36"/>
          <p:cNvCxnSpPr>
            <a:stCxn id="9" idx="3"/>
            <a:endCxn id="10" idx="1"/>
          </p:cNvCxnSpPr>
          <p:nvPr/>
        </p:nvCxnSpPr>
        <p:spPr>
          <a:xfrm>
            <a:off x="10382250" y="3209925"/>
            <a:ext cx="304800" cy="0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505F5B9-7F79-4E84-ADAA-F23DED386858}"/>
              </a:ext>
            </a:extLst>
          </p:cNvPr>
          <p:cNvSpPr>
            <a:spLocks noGrp="1"/>
          </p:cNvSpPr>
          <p:nvPr/>
        </p:nvSpPr>
        <p:spPr>
          <a:xfrm>
            <a:off x="2514600" y="4191000"/>
            <a:ext cx="716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Pilot phải kiểm chứng chuỗi thật, không chỉ thử form tạo đề xuất.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2DC16E-FB64-4138-A862-E096D9B7E934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07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8C8F507A-0EBB-4AEA-80B3-D58DBE3577EE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9749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37E70BE-62F8-41BA-979F-7D2A0B6CF791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MÔ HÌNH VẬN HÀNH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D8C390-0F44-4500-A2E9-535EC1D8B65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Trách nhiệm nằm ở từng chốt kiểm soát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33B3C0-5F38-46C0-887B-9BB07704B579}"/>
              </a:ext>
            </a:extLst>
          </p:cNvPr>
          <p:cNvSpPr>
            <a:spLocks noGrp="1"/>
          </p:cNvSpPr>
          <p:nvPr/>
        </p:nvSpPr>
        <p:spPr>
          <a:xfrm>
            <a:off x="1619250" y="1790700"/>
            <a:ext cx="16954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NVMH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9C1ADD-4A1A-42B3-90B3-D8DF46BE337C}"/>
              </a:ext>
            </a:extLst>
          </p:cNvPr>
          <p:cNvSpPr>
            <a:spLocks noGrp="1"/>
          </p:cNvSpPr>
          <p:nvPr/>
        </p:nvSpPr>
        <p:spPr>
          <a:xfrm>
            <a:off x="3714750" y="18669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Nội dung mua hàng, NCC, chứng từ tải lên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EB4E5EA-43EC-4904-9F9B-CEEF28030BC2}"/>
              </a:ext>
            </a:extLst>
          </p:cNvPr>
          <p:cNvSpPr>
            <a:spLocks noGrp="1"/>
          </p:cNvSpPr>
          <p:nvPr/>
        </p:nvSpPr>
        <p:spPr>
          <a:xfrm>
            <a:off x="2476500" y="2247900"/>
            <a:ext cx="0" cy="26670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C75C46-2E4F-4417-8506-8AF9F32A2306}"/>
              </a:ext>
            </a:extLst>
          </p:cNvPr>
          <p:cNvSpPr>
            <a:spLocks noGrp="1"/>
          </p:cNvSpPr>
          <p:nvPr/>
        </p:nvSpPr>
        <p:spPr>
          <a:xfrm>
            <a:off x="1619250" y="2514600"/>
            <a:ext cx="1695450" cy="438150"/>
          </a:xfrm>
          <a:prstGeom prst="roundRect">
            <a:avLst>
              <a:gd name="adj" fmla="val 17391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Lãnh đạo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83F98B-E232-4DE9-82F2-CA2E652F5474}"/>
              </a:ext>
            </a:extLst>
          </p:cNvPr>
          <p:cNvSpPr>
            <a:spLocks noGrp="1"/>
          </p:cNvSpPr>
          <p:nvPr/>
        </p:nvSpPr>
        <p:spPr>
          <a:xfrm>
            <a:off x="3714750" y="25908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Quyết định phê duyệt dựa trên bằng chứng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F0F3349-FC0A-4206-B1F4-78579DF38C43}"/>
              </a:ext>
            </a:extLst>
          </p:cNvPr>
          <p:cNvSpPr>
            <a:spLocks noGrp="1"/>
          </p:cNvSpPr>
          <p:nvPr/>
        </p:nvSpPr>
        <p:spPr>
          <a:xfrm>
            <a:off x="2476500" y="2971800"/>
            <a:ext cx="0" cy="26670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0A6F8-2403-4334-9631-C370171747CD}"/>
              </a:ext>
            </a:extLst>
          </p:cNvPr>
          <p:cNvSpPr>
            <a:spLocks noGrp="1"/>
          </p:cNvSpPr>
          <p:nvPr/>
        </p:nvSpPr>
        <p:spPr>
          <a:xfrm>
            <a:off x="1619250" y="3238500"/>
            <a:ext cx="16954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KTTH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0148BD-5DC0-41DA-8160-AE53612D72E6}"/>
              </a:ext>
            </a:extLst>
          </p:cNvPr>
          <p:cNvSpPr>
            <a:spLocks noGrp="1"/>
          </p:cNvSpPr>
          <p:nvPr/>
        </p:nvSpPr>
        <p:spPr>
          <a:xfrm>
            <a:off x="3714750" y="33147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Đủ hồ sơ, công nợ, DXTT đúng dữ liệu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33AEA2F-ED37-4499-B526-0770F7119EB6}"/>
              </a:ext>
            </a:extLst>
          </p:cNvPr>
          <p:cNvSpPr>
            <a:spLocks noGrp="1"/>
          </p:cNvSpPr>
          <p:nvPr/>
        </p:nvSpPr>
        <p:spPr>
          <a:xfrm>
            <a:off x="2476500" y="3695700"/>
            <a:ext cx="0" cy="26670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B2E5FB8-3AA7-457C-A640-F2F62062C9F9}"/>
              </a:ext>
            </a:extLst>
          </p:cNvPr>
          <p:cNvSpPr>
            <a:spLocks noGrp="1"/>
          </p:cNvSpPr>
          <p:nvPr/>
        </p:nvSpPr>
        <p:spPr>
          <a:xfrm>
            <a:off x="1619250" y="3962400"/>
            <a:ext cx="16954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Thủ quỹ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9A1705-CDE7-4A71-B172-0208BB31FBBA}"/>
              </a:ext>
            </a:extLst>
          </p:cNvPr>
          <p:cNvSpPr>
            <a:spLocks noGrp="1"/>
          </p:cNvSpPr>
          <p:nvPr/>
        </p:nvSpPr>
        <p:spPr>
          <a:xfrm>
            <a:off x="3714750" y="40386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Chi đúng dòng đã duyệt và tải chứng từ chi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A77400D-D7FC-49A2-8BF2-4804051BE5FB}"/>
              </a:ext>
            </a:extLst>
          </p:cNvPr>
          <p:cNvSpPr>
            <a:spLocks noGrp="1"/>
          </p:cNvSpPr>
          <p:nvPr/>
        </p:nvSpPr>
        <p:spPr>
          <a:xfrm>
            <a:off x="2476500" y="4419600"/>
            <a:ext cx="0" cy="26670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0DA80C-4A93-417D-8B72-46F1819CD33E}"/>
              </a:ext>
            </a:extLst>
          </p:cNvPr>
          <p:cNvSpPr>
            <a:spLocks noGrp="1"/>
          </p:cNvSpPr>
          <p:nvPr/>
        </p:nvSpPr>
        <p:spPr>
          <a:xfrm>
            <a:off x="1619250" y="4686300"/>
            <a:ext cx="16954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Admin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4ED0C3-F4BD-4F9D-900D-5F5047071ECD}"/>
              </a:ext>
            </a:extLst>
          </p:cNvPr>
          <p:cNvSpPr>
            <a:spLocks noGrp="1"/>
          </p:cNvSpPr>
          <p:nvPr/>
        </p:nvSpPr>
        <p:spPr>
          <a:xfrm>
            <a:off x="3714750" y="47625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Tài khoản, phân quyền, cấu hình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3AA498-2047-42EC-A432-219EC3E57390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08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B065B39-FE9F-4780-A4D8-BE97F93D16B4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8085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4D39EC-B233-4BA1-ADD3-9AA72676662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THẨM QUYỀN DUYỆT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510894-D51B-4D22-9884-E0A8846BE74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Quyền phê duyệt phải giữ đúng thẩm quyền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729BD77-021D-416D-9FB9-4C2E80A21EF8}"/>
              </a:ext>
            </a:extLst>
          </p:cNvPr>
          <p:cNvSpPr>
            <a:spLocks noGrp="1"/>
          </p:cNvSpPr>
          <p:nvPr/>
        </p:nvSpPr>
        <p:spPr>
          <a:xfrm>
            <a:off x="1619250" y="2266950"/>
            <a:ext cx="2571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&lt; 10 triệu</a:t>
            </a:r>
          </a:p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TGĐ duyệt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8948C35-BFFE-4FAF-81CA-B978114DEB04}"/>
              </a:ext>
            </a:extLst>
          </p:cNvPr>
          <p:cNvSpPr>
            <a:spLocks noGrp="1"/>
          </p:cNvSpPr>
          <p:nvPr/>
        </p:nvSpPr>
        <p:spPr>
          <a:xfrm>
            <a:off x="4857750" y="2266950"/>
            <a:ext cx="2571750" cy="1257300"/>
          </a:xfrm>
          <a:prstGeom prst="roundRect">
            <a:avLst>
              <a:gd name="adj" fmla="val 6061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≥ 10 triệu</a:t>
            </a:r>
          </a:p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Chủ tịch duyệt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F6BF7D-9DE8-497A-9C3D-D5A83E020E23}"/>
              </a:ext>
            </a:extLst>
          </p:cNvPr>
          <p:cNvSpPr>
            <a:spLocks noGrp="1"/>
          </p:cNvSpPr>
          <p:nvPr/>
        </p:nvSpPr>
        <p:spPr>
          <a:xfrm>
            <a:off x="8096250" y="2266950"/>
            <a:ext cx="2571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DXTT</a:t>
            </a:r>
          </a:p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Chủ tịch duyệt</a:t>
            </a:r>
          </a:p>
        </p:txBody>
      </p:sp>
      <p:cxnSp>
        <p:nvCxnSpPr>
          <p:cNvPr id="16" name="Straight Arrow Connector 15"/>
          <p:cNvCxnSpPr>
            <a:stCxn id="3" idx="3"/>
            <a:endCxn id="4" idx="1"/>
          </p:cNvCxnSpPr>
          <p:nvPr/>
        </p:nvCxnSpPr>
        <p:spPr>
          <a:xfrm>
            <a:off x="4191000" y="2895600"/>
            <a:ext cx="66675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7" name="Straight Arrow Connector 16"/>
          <p:cNvCxnSpPr>
            <a:stCxn id="4" idx="3"/>
            <a:endCxn id="5" idx="1"/>
          </p:cNvCxnSpPr>
          <p:nvPr/>
        </p:nvCxnSpPr>
        <p:spPr>
          <a:xfrm>
            <a:off x="7429500" y="2895600"/>
            <a:ext cx="66675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0346877-FA0F-4024-B3CF-A27B1BD332B2}"/>
              </a:ext>
            </a:extLst>
          </p:cNvPr>
          <p:cNvSpPr>
            <a:spLocks noGrp="1"/>
          </p:cNvSpPr>
          <p:nvPr/>
        </p:nvSpPr>
        <p:spPr>
          <a:xfrm>
            <a:off x="2857500" y="4305300"/>
            <a:ext cx="647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Override hoặc trả lại phải có lý do và để lại dấu vết.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6D0D8E-09FD-4304-AA12-ED4C7FFA74D0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09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0CC88A1-139A-4341-9885-0C9530C90AC0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01740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B085F5-3D61-4DAD-80CA-C9E43E83B65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CHỨNG TỪ VS APP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29F03F-417C-4DC9-B138-C32581E8FC0A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Nếu app và chứng từ lệch nhau, chứng từ thắng; app phải được sửa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19A8CD0-8815-41B2-A046-A4095BD17EA6}"/>
              </a:ext>
            </a:extLst>
          </p:cNvPr>
          <p:cNvSpPr>
            <a:spLocks noGrp="1"/>
          </p:cNvSpPr>
          <p:nvPr/>
        </p:nvSpPr>
        <p:spPr>
          <a:xfrm>
            <a:off x="1905000" y="2190750"/>
            <a:ext cx="2857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Chứng từ hợp lệ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bằng chứng kế toán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8ADB2DA-22E8-402B-B2F9-D917BA323E1A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2857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App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trạng thái và dấu vết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E9D6A2F-6658-4BFA-9024-BCFDB570CC12}"/>
              </a:ext>
            </a:extLst>
          </p:cNvPr>
          <p:cNvSpPr>
            <a:spLocks noGrp="1"/>
          </p:cNvSpPr>
          <p:nvPr/>
        </p:nvSpPr>
        <p:spPr>
          <a:xfrm>
            <a:off x="4667250" y="4095750"/>
            <a:ext cx="2857500" cy="876300"/>
          </a:xfrm>
          <a:prstGeom prst="roundRect">
            <a:avLst>
              <a:gd name="adj" fmla="val 8696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Tạm dừng</a:t>
            </a:r>
          </a:p>
          <a:p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đối soát có lý do</a:t>
            </a:r>
          </a:p>
        </p:txBody>
      </p:sp>
      <p:cxnSp>
        <p:nvCxnSpPr>
          <p:cNvPr id="16" name="Straight Arrow Connector 15"/>
          <p:cNvCxnSpPr>
            <a:stCxn id="3" idx="2"/>
            <a:endCxn id="5" idx="1"/>
          </p:cNvCxnSpPr>
          <p:nvPr/>
        </p:nvCxnSpPr>
        <p:spPr>
          <a:xfrm>
            <a:off x="3333750" y="3524250"/>
            <a:ext cx="1333500" cy="100965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7" name="Straight Arrow Connector 16"/>
          <p:cNvCxnSpPr>
            <a:stCxn id="4" idx="2"/>
            <a:endCxn id="5" idx="3"/>
          </p:cNvCxnSpPr>
          <p:nvPr/>
        </p:nvCxnSpPr>
        <p:spPr>
          <a:xfrm flipH="1">
            <a:off x="7524750" y="3524250"/>
            <a:ext cx="1333500" cy="100965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D5B56CA-C7D1-4741-95B9-FBCC62FB8E3A}"/>
              </a:ext>
            </a:extLst>
          </p:cNvPr>
          <p:cNvSpPr>
            <a:spLocks noGrp="1"/>
          </p:cNvSpPr>
          <p:nvPr/>
        </p:nvSpPr>
        <p:spPr>
          <a:xfrm>
            <a:off x="4286250" y="1581150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8A3A32"/>
                </a:solidFill>
              </a:defRPr>
            </a:pPr>
            <a:r>
              <a:rPr sz="2250" b="1">
                <a:solidFill>
                  <a:srgbClr val="8A3A32"/>
                </a:solidFill>
              </a:rPr>
              <a:t>Không âm thầm bỏ qua.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33001-3DE5-4D2B-86C6-4288A5168513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10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03AA48C-2C61-4463-97F7-9E095385EF88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9004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2209001-A9D9-4073-A2E3-DB5D3541BE1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KIỂM SOÁT RỦI RO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6369A9-A048-4DE9-B3DE-FB7AAA7D309D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Các chốt kiểm soát quan trọng hơn lời hứa chung chung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104AFA-EFF4-4D3E-93C0-3057A8D94D30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2190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Phân quyền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14CDDB-CC8D-4DA1-8CB8-51A64257087B}"/>
              </a:ext>
            </a:extLst>
          </p:cNvPr>
          <p:cNvSpPr>
            <a:spLocks noGrp="1"/>
          </p:cNvSpPr>
          <p:nvPr/>
        </p:nvSpPr>
        <p:spPr>
          <a:xfrm>
            <a:off x="1200150" y="3048000"/>
            <a:ext cx="1771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</a:rPr>
              <a:t>ai được làm gì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C34381-9386-4EAE-80C0-797C7F218A49}"/>
              </a:ext>
            </a:extLst>
          </p:cNvPr>
          <p:cNvSpPr>
            <a:spLocks noGrp="1"/>
          </p:cNvSpPr>
          <p:nvPr/>
        </p:nvSpPr>
        <p:spPr>
          <a:xfrm>
            <a:off x="3790950" y="2190750"/>
            <a:ext cx="2190750" cy="142875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Bằng chứng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4D7F86-8007-45D6-86B1-78009BA7C616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1771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</a:rPr>
              <a:t>VAT / BBGN / chứng từ chi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3AFB99-4914-473F-B166-31D2BD662D0A}"/>
              </a:ext>
            </a:extLst>
          </p:cNvPr>
          <p:cNvSpPr>
            <a:spLocks noGrp="1"/>
          </p:cNvSpPr>
          <p:nvPr/>
        </p:nvSpPr>
        <p:spPr>
          <a:xfrm>
            <a:off x="6591300" y="2190750"/>
            <a:ext cx="2190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Dấu vết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CEBA4C-2A78-4CDC-9CD7-213FA0E5134F}"/>
              </a:ext>
            </a:extLst>
          </p:cNvPr>
          <p:cNvSpPr>
            <a:spLocks noGrp="1"/>
          </p:cNvSpPr>
          <p:nvPr/>
        </p:nvSpPr>
        <p:spPr>
          <a:xfrm>
            <a:off x="6800850" y="3048000"/>
            <a:ext cx="1771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</a:rPr>
              <a:t>ai làm, lúc nào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F54E2A5-7986-44F6-9CAF-DB7BCCC2FC45}"/>
              </a:ext>
            </a:extLst>
          </p:cNvPr>
          <p:cNvSpPr>
            <a:spLocks noGrp="1"/>
          </p:cNvSpPr>
          <p:nvPr/>
        </p:nvSpPr>
        <p:spPr>
          <a:xfrm>
            <a:off x="9391650" y="2190750"/>
            <a:ext cx="2190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AA1294-6478-41C3-86B1-5EEB47D36331}"/>
              </a:ext>
            </a:extLst>
          </p:cNvPr>
          <p:cNvSpPr>
            <a:spLocks noGrp="1"/>
          </p:cNvSpPr>
          <p:nvPr/>
        </p:nvSpPr>
        <p:spPr>
          <a:xfrm>
            <a:off x="9601200" y="3048000"/>
            <a:ext cx="1771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</a:rPr>
              <a:t>kẹt ở đâu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6CDBEC-3B0E-446E-B2C1-AC7601554503}"/>
              </a:ext>
            </a:extLst>
          </p:cNvPr>
          <p:cNvSpPr>
            <a:spLocks noGrp="1"/>
          </p:cNvSpPr>
          <p:nvPr/>
        </p:nvSpPr>
        <p:spPr>
          <a:xfrm>
            <a:off x="3238500" y="449580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Kiểm soát tốt là khi lỗi không bị ẩn.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F94090-5399-4171-80BB-C1A5D53CB19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11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47E1F6A-E3F5-4A31-ABFB-1B9AC1B6C8A9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75045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EF9051-2AE7-4C03-9E7F-4628D7436DB4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GIỚI HẠN CẦN NÓI THẲNG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2BF7FE-8CD2-4200-9555-F4EA5EEAEB8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Không đưa ngoại lệ thiếu chứng từ vào pilot này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3C24358-F36C-4F29-8EE3-2D840224C531}"/>
              </a:ext>
            </a:extLst>
          </p:cNvPr>
          <p:cNvSpPr>
            <a:spLocks noGrp="1"/>
          </p:cNvSpPr>
          <p:nvPr/>
        </p:nvSpPr>
        <p:spPr>
          <a:xfrm>
            <a:off x="1428750" y="228600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Hiện tại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app yêu cầu hồ sơ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1F2197-5984-4B7D-8603-6740A7BFC1AA}"/>
              </a:ext>
            </a:extLst>
          </p:cNvPr>
          <p:cNvSpPr>
            <a:spLocks noGrp="1"/>
          </p:cNvSpPr>
          <p:nvPr/>
        </p:nvSpPr>
        <p:spPr>
          <a:xfrm>
            <a:off x="7905750" y="228600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Sau pilot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thiết kế quy trình ngoại lệ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57AC8D-F5FB-4667-9B78-2871A093839C}"/>
              </a:ext>
            </a:extLst>
          </p:cNvPr>
          <p:cNvSpPr>
            <a:spLocks noGrp="1"/>
          </p:cNvSpPr>
          <p:nvPr/>
        </p:nvSpPr>
        <p:spPr>
          <a:xfrm>
            <a:off x="4667250" y="2457450"/>
            <a:ext cx="2857500" cy="800100"/>
          </a:xfrm>
          <a:prstGeom prst="roundRect">
            <a:avLst>
              <a:gd name="adj" fmla="val 9524"/>
            </a:avLst>
          </a:prstGeom>
          <a:solidFill>
            <a:srgbClr val="F7ECEA"/>
          </a:solidFill>
          <a:ln w="9525">
            <a:solidFill>
              <a:srgbClr val="E2C6C1"/>
            </a:solidFill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8A3A32"/>
                </a:solidFill>
              </a:defRPr>
            </a:pPr>
            <a:r>
              <a:rPr sz="1650" b="1">
                <a:solidFill>
                  <a:srgbClr val="8A3A32"/>
                </a:solidFill>
              </a:rPr>
              <a:t>Không nói quá</a:t>
            </a:r>
          </a:p>
          <a:p>
            <a:pPr algn="ctr">
              <a:defRPr sz="1650" b="1">
                <a:solidFill>
                  <a:srgbClr val="8A3A32"/>
                </a:solidFill>
              </a:defRPr>
            </a:pPr>
            <a:r>
              <a:rPr sz="1650" b="1">
                <a:solidFill>
                  <a:srgbClr val="8A3A32"/>
                </a:solidFill>
              </a:rPr>
              <a:t>không bỏ qua</a:t>
            </a:r>
          </a:p>
        </p:txBody>
      </p:sp>
      <p:cxnSp>
        <p:nvCxnSpPr>
          <p:cNvPr id="16" name="Straight Arrow Connector 15"/>
          <p:cNvCxnSpPr>
            <a:stCxn id="3" idx="3"/>
            <a:endCxn id="5" idx="1"/>
          </p:cNvCxnSpPr>
          <p:nvPr/>
        </p:nvCxnSpPr>
        <p:spPr>
          <a:xfrm>
            <a:off x="4286250" y="2857500"/>
            <a:ext cx="38100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7" name="Straight Arrow Connector 16"/>
          <p:cNvCxnSpPr>
            <a:stCxn id="5" idx="3"/>
            <a:endCxn id="4" idx="1"/>
          </p:cNvCxnSpPr>
          <p:nvPr/>
        </p:nvCxnSpPr>
        <p:spPr>
          <a:xfrm>
            <a:off x="7524750" y="2857500"/>
            <a:ext cx="38100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9DA9EEB-09F5-40D4-A80C-F3F96FF24C96}"/>
              </a:ext>
            </a:extLst>
          </p:cNvPr>
          <p:cNvSpPr>
            <a:spLocks noGrp="1"/>
          </p:cNvSpPr>
          <p:nvPr/>
        </p:nvSpPr>
        <p:spPr>
          <a:xfrm>
            <a:off x="2095500" y="4248150"/>
            <a:ext cx="800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Nếu cần thanh toán khẩn khi thiếu bản gốc, đó là chính sách riêng cần lãnh đạo chốt sau.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B1B582-EC55-4787-ABFF-D21FDA1B5721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12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F1B7EEE-C5BB-4D77-B9E0-EA22A1A3A16E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46927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F19A55-A53E-4CF4-B589-08E4A18A5374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ĐỀ XUẤT PILOT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467ADB-FE57-41D5-8EB3-D0CFFDD3E51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Đề xuất: pilot 2 tuần, có kiểm soát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B6D5B7F-1DFE-46E0-9168-52364B71DFE1}"/>
              </a:ext>
            </a:extLst>
          </p:cNvPr>
          <p:cNvSpPr>
            <a:spLocks noGrp="1"/>
          </p:cNvSpPr>
          <p:nvPr/>
        </p:nvSpPr>
        <p:spPr>
          <a:xfrm>
            <a:off x="1524000" y="2324100"/>
            <a:ext cx="2571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Đơn thường kỳ</a:t>
            </a:r>
          </a:p>
          <a:p>
            <a:pPr algn="ctr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qua Viber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760EC9-283A-4073-ABCC-5248543F8767}"/>
              </a:ext>
            </a:extLst>
          </p:cNvPr>
          <p:cNvSpPr>
            <a:spLocks noGrp="1"/>
          </p:cNvSpPr>
          <p:nvPr/>
        </p:nvSpPr>
        <p:spPr>
          <a:xfrm>
            <a:off x="4810125" y="2324100"/>
            <a:ext cx="2571750" cy="1257300"/>
          </a:xfrm>
          <a:prstGeom prst="roundRect">
            <a:avLst>
              <a:gd name="adj" fmla="val 6061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Duyệt chính</a:t>
            </a:r>
          </a:p>
          <a:p>
            <a:pPr algn="ctr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trong app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F39271-4B52-43D1-B0DD-A90D01555200}"/>
              </a:ext>
            </a:extLst>
          </p:cNvPr>
          <p:cNvSpPr>
            <a:spLocks noGrp="1"/>
          </p:cNvSpPr>
          <p:nvPr/>
        </p:nvSpPr>
        <p:spPr>
          <a:xfrm>
            <a:off x="8096250" y="2324100"/>
            <a:ext cx="2571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Đi hết luồng</a:t>
            </a:r>
          </a:p>
          <a:p>
            <a:pPr algn="ctr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tới chứng từ chi</a:t>
            </a:r>
          </a:p>
        </p:txBody>
      </p:sp>
      <p:cxnSp>
        <p:nvCxnSpPr>
          <p:cNvPr id="16" name="Straight Arrow Connector 15"/>
          <p:cNvCxnSpPr>
            <a:stCxn id="3" idx="3"/>
            <a:endCxn id="4" idx="1"/>
          </p:cNvCxnSpPr>
          <p:nvPr/>
        </p:nvCxnSpPr>
        <p:spPr>
          <a:xfrm>
            <a:off x="4095750" y="2952750"/>
            <a:ext cx="714375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7" name="Straight Arrow Connector 16"/>
          <p:cNvCxnSpPr>
            <a:stCxn id="4" idx="3"/>
            <a:endCxn id="5" idx="1"/>
          </p:cNvCxnSpPr>
          <p:nvPr/>
        </p:nvCxnSpPr>
        <p:spPr>
          <a:xfrm>
            <a:off x="7381875" y="2952750"/>
            <a:ext cx="714375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4B541C-DFEC-4E17-BC94-8EE330756DE3}"/>
              </a:ext>
            </a:extLst>
          </p:cNvPr>
          <p:cNvSpPr>
            <a:spLocks noGrp="1"/>
          </p:cNvSpPr>
          <p:nvPr/>
        </p:nvSpPr>
        <p:spPr>
          <a:xfrm>
            <a:off x="2552700" y="4400550"/>
            <a:ext cx="708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666666"/>
                </a:solidFill>
              </a:defRPr>
            </a:pPr>
            <a:r>
              <a:rPr sz="1950" b="0">
                <a:solidFill>
                  <a:srgbClr val="666666"/>
                </a:solidFill>
              </a:rPr>
              <a:t>Không phải triển khai toàn bộ. Đây là bằng chứng để quyết định mở rộng.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C9C705-23D3-4247-8F84-66593DA244CD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13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472E7A48-C1A1-4077-A116-4545F2D7E9BC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12932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D94FA13-4792-499A-BCB7-05A6275AC1A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PHẠM VI PILOT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BB933-C938-44D6-9F65-56DDFD64E15C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Có kiểm soát nghĩa là có phạm vi vào/ra rõ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A77E5C-0DB8-454E-A9C2-66C7970ED698}"/>
              </a:ext>
            </a:extLst>
          </p:cNvPr>
          <p:cNvSpPr>
            <a:spLocks noGrp="1"/>
          </p:cNvSpPr>
          <p:nvPr/>
        </p:nvSpPr>
        <p:spPr>
          <a:xfrm>
            <a:off x="952500" y="1771650"/>
            <a:ext cx="47625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58EF3A-555D-42EA-830D-B31D42D87765}"/>
              </a:ext>
            </a:extLst>
          </p:cNvPr>
          <p:cNvSpPr>
            <a:spLocks noGrp="1"/>
          </p:cNvSpPr>
          <p:nvPr/>
        </p:nvSpPr>
        <p:spPr>
          <a:xfrm>
            <a:off x="6477000" y="1771650"/>
            <a:ext cx="47625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ECCCB-B001-4842-8324-198B7DED9BBE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422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Trong phạm vi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8E351-097F-4760-91D6-A8FE5D5CAF84}"/>
              </a:ext>
            </a:extLst>
          </p:cNvPr>
          <p:cNvSpPr>
            <a:spLocks noGrp="1"/>
          </p:cNvSpPr>
          <p:nvPr/>
        </p:nvSpPr>
        <p:spPr>
          <a:xfrm>
            <a:off x="6743700" y="2057400"/>
            <a:ext cx="422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Ngoài phạm vi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5C1D65-E538-4B61-AC71-8081322F5FA4}"/>
              </a:ext>
            </a:extLst>
          </p:cNvPr>
          <p:cNvSpPr>
            <a:spLocks noGrp="1"/>
          </p:cNvSpPr>
          <p:nvPr/>
        </p:nvSpPr>
        <p:spPr>
          <a:xfrm>
            <a:off x="1162050" y="2771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solidFill>
              <a:srgbClr val="0E5AA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A6C0AE-4703-4975-91B1-ADD07C082F20}"/>
              </a:ext>
            </a:extLst>
          </p:cNvPr>
          <p:cNvSpPr>
            <a:spLocks noGrp="1"/>
          </p:cNvSpPr>
          <p:nvPr/>
        </p:nvSpPr>
        <p:spPr>
          <a:xfrm>
            <a:off x="1390650" y="26860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Đơn thường kỳ đang xin qua Viber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E44CAD-AF08-4841-BA1A-05A39E6DCBE6}"/>
              </a:ext>
            </a:extLst>
          </p:cNvPr>
          <p:cNvSpPr>
            <a:spLocks noGrp="1"/>
          </p:cNvSpPr>
          <p:nvPr/>
        </p:nvSpPr>
        <p:spPr>
          <a:xfrm>
            <a:off x="1162050" y="3324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solidFill>
              <a:srgbClr val="0E5AA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ABD378-1752-4407-989F-FC545D35C861}"/>
              </a:ext>
            </a:extLst>
          </p:cNvPr>
          <p:cNvSpPr>
            <a:spLocks noGrp="1"/>
          </p:cNvSpPr>
          <p:nvPr/>
        </p:nvSpPr>
        <p:spPr>
          <a:xfrm>
            <a:off x="1390650" y="32385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NCC / mặt hàng / bộ phận rõ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F5E79D9-CA0A-4675-96C9-8AC9B62821F4}"/>
              </a:ext>
            </a:extLst>
          </p:cNvPr>
          <p:cNvSpPr>
            <a:spLocks noGrp="1"/>
          </p:cNvSpPr>
          <p:nvPr/>
        </p:nvSpPr>
        <p:spPr>
          <a:xfrm>
            <a:off x="1162050" y="3876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solidFill>
              <a:srgbClr val="0E5AA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CA2C5-8FF3-41B4-A0AC-92FA84CA9B8F}"/>
              </a:ext>
            </a:extLst>
          </p:cNvPr>
          <p:cNvSpPr>
            <a:spLocks noGrp="1"/>
          </p:cNvSpPr>
          <p:nvPr/>
        </p:nvSpPr>
        <p:spPr>
          <a:xfrm>
            <a:off x="1390650" y="37909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Đủ hồ sơ để đi luồng thường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ED732B-D01B-46D1-B179-35EE41784172}"/>
              </a:ext>
            </a:extLst>
          </p:cNvPr>
          <p:cNvSpPr>
            <a:spLocks noGrp="1"/>
          </p:cNvSpPr>
          <p:nvPr/>
        </p:nvSpPr>
        <p:spPr>
          <a:xfrm>
            <a:off x="1162050" y="4429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solidFill>
              <a:srgbClr val="0E5AA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002B8C-2D10-4AEF-8F67-646159332A2A}"/>
              </a:ext>
            </a:extLst>
          </p:cNvPr>
          <p:cNvSpPr>
            <a:spLocks noGrp="1"/>
          </p:cNvSpPr>
          <p:nvPr/>
        </p:nvSpPr>
        <p:spPr>
          <a:xfrm>
            <a:off x="1390650" y="43434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Có thể hoàn tất trong 2 tuần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959DDDF-32F8-429B-9890-7A06C1A5A0B3}"/>
              </a:ext>
            </a:extLst>
          </p:cNvPr>
          <p:cNvSpPr>
            <a:spLocks noGrp="1"/>
          </p:cNvSpPr>
          <p:nvPr/>
        </p:nvSpPr>
        <p:spPr>
          <a:xfrm>
            <a:off x="6686550" y="2771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535028-5CE6-4F24-AA45-08E53BD231B3}"/>
              </a:ext>
            </a:extLst>
          </p:cNvPr>
          <p:cNvSpPr>
            <a:spLocks noGrp="1"/>
          </p:cNvSpPr>
          <p:nvPr/>
        </p:nvSpPr>
        <p:spPr>
          <a:xfrm>
            <a:off x="6915150" y="26860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Thiếu chứng từ gốc khẩn cấp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B27E4BB-5A14-4EE4-A5F3-5A865C489E81}"/>
              </a:ext>
            </a:extLst>
          </p:cNvPr>
          <p:cNvSpPr>
            <a:spLocks noGrp="1"/>
          </p:cNvSpPr>
          <p:nvPr/>
        </p:nvSpPr>
        <p:spPr>
          <a:xfrm>
            <a:off x="6686550" y="3324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0E9936-647D-406F-A337-B8E1ABA2DC33}"/>
              </a:ext>
            </a:extLst>
          </p:cNvPr>
          <p:cNvSpPr>
            <a:spLocks noGrp="1"/>
          </p:cNvSpPr>
          <p:nvPr/>
        </p:nvSpPr>
        <p:spPr>
          <a:xfrm>
            <a:off x="6915150" y="32385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Số dư đầu kỳ chưa đối soát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141F241-CBFE-4093-9040-35D5C41DFBE4}"/>
              </a:ext>
            </a:extLst>
          </p:cNvPr>
          <p:cNvSpPr>
            <a:spLocks noGrp="1"/>
          </p:cNvSpPr>
          <p:nvPr/>
        </p:nvSpPr>
        <p:spPr>
          <a:xfrm>
            <a:off x="6686550" y="3876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CBC0FA-6E61-43B4-AC3B-36B78EFEE364}"/>
              </a:ext>
            </a:extLst>
          </p:cNvPr>
          <p:cNvSpPr>
            <a:spLocks noGrp="1"/>
          </p:cNvSpPr>
          <p:nvPr/>
        </p:nvSpPr>
        <p:spPr>
          <a:xfrm>
            <a:off x="6915150" y="37909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Việc phát sinh ngoài quy trình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CB95BC9-338F-4AB8-A0C0-E00929C7781E}"/>
              </a:ext>
            </a:extLst>
          </p:cNvPr>
          <p:cNvSpPr>
            <a:spLocks noGrp="1"/>
          </p:cNvSpPr>
          <p:nvPr/>
        </p:nvSpPr>
        <p:spPr>
          <a:xfrm>
            <a:off x="6686550" y="4429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2195C8-27D3-4D8C-9714-735C9D14942F}"/>
              </a:ext>
            </a:extLst>
          </p:cNvPr>
          <p:cNvSpPr>
            <a:spLocks noGrp="1"/>
          </p:cNvSpPr>
          <p:nvPr/>
        </p:nvSpPr>
        <p:spPr>
          <a:xfrm>
            <a:off x="6915150" y="43434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Cần đổi chính sách trước khi xử lý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58BB5B-B930-416B-86F7-3860FF09216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14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08A5D35-6090-4E85-A13F-D3C0730D01F8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94672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027837-9133-4374-9301-3B7F0C9C103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NGUYÊN TẮC VẬN HÀNH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5F3BDF-4783-4205-9D63-B2BAAB9727F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Trong phạm vi pilot, app là nơi phê duyệt chính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C9C707C-CACD-4F9B-8FC4-C2C3A6397447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2476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Viber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trao đổi nhanh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902A735-5B09-4FFE-ACAA-91BC06B67841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638300"/>
          </a:xfrm>
          <a:prstGeom prst="roundRect">
            <a:avLst>
              <a:gd name="adj" fmla="val 4651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App</a:t>
            </a:r>
          </a:p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phê duyệt chính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C239D8-53F7-4D45-96D1-4F65B06748CA}"/>
              </a:ext>
            </a:extLst>
          </p:cNvPr>
          <p:cNvSpPr>
            <a:spLocks noGrp="1"/>
          </p:cNvSpPr>
          <p:nvPr/>
        </p:nvSpPr>
        <p:spPr>
          <a:xfrm>
            <a:off x="8096250" y="2381250"/>
            <a:ext cx="2476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Dashboard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nguồn trạng thái</a:t>
            </a:r>
          </a:p>
        </p:txBody>
      </p:sp>
      <p:cxnSp>
        <p:nvCxnSpPr>
          <p:cNvPr id="16" name="Straight Arrow Connector 15"/>
          <p:cNvCxnSpPr>
            <a:stCxn id="3" idx="3"/>
            <a:endCxn id="4" idx="1"/>
          </p:cNvCxnSpPr>
          <p:nvPr/>
        </p:nvCxnSpPr>
        <p:spPr>
          <a:xfrm>
            <a:off x="4095750" y="2914650"/>
            <a:ext cx="762000" cy="0"/>
          </a:xfrm>
          <a:prstGeom prst="straightConnector1">
            <a:avLst/>
          </a:prstGeom>
          <a:ln w="14288">
            <a:solidFill>
              <a:srgbClr val="666666"/>
            </a:solidFill>
            <a:prstDash val="dash"/>
          </a:ln>
        </p:spPr>
      </p:cxnSp>
      <p:cxnSp>
        <p:nvCxnSpPr>
          <p:cNvPr id="17" name="Straight Arrow Connector 16"/>
          <p:cNvCxnSpPr>
            <a:stCxn id="4" idx="3"/>
            <a:endCxn id="5" idx="1"/>
          </p:cNvCxnSpPr>
          <p:nvPr/>
        </p:nvCxnSpPr>
        <p:spPr>
          <a:xfrm>
            <a:off x="7334250" y="2914650"/>
            <a:ext cx="76200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10A6FCB-BEC6-4937-9928-EDCC77B6A3C9}"/>
              </a:ext>
            </a:extLst>
          </p:cNvPr>
          <p:cNvSpPr>
            <a:spLocks noGrp="1"/>
          </p:cNvSpPr>
          <p:nvPr/>
        </p:nvSpPr>
        <p:spPr>
          <a:xfrm>
            <a:off x="2238375" y="4400550"/>
            <a:ext cx="771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Nếu chỉ nhập lại sau Viber, pilot chỉ thử nhập liệu; không kiểm chứng quy trình.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6B0F2B-31D9-44CE-B212-BAD92AB439E2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15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C5DFB63-89F8-4E78-A5EA-3C9DB6AE58BD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418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DF6CAE-2BF5-4FC8-BF34-E255C237C20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DỰ PHÒNG VIBER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6DD826-4EFF-4C18-9844-44FD3A2E527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Dự phòng không được biến thành đường tắt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E7F041-6A7E-4E09-9353-592E93326E67}"/>
              </a:ext>
            </a:extLst>
          </p:cNvPr>
          <p:cNvSpPr>
            <a:spLocks noGrp="1"/>
          </p:cNvSpPr>
          <p:nvPr/>
        </p:nvSpPr>
        <p:spPr>
          <a:xfrm>
            <a:off x="1676400" y="2343150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F7ECEA"/>
          </a:solidFill>
          <a:ln w="9525">
            <a:solidFill>
              <a:srgbClr val="E2C6C1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8A3A32"/>
                </a:solidFill>
              </a:defRPr>
            </a:pPr>
            <a:r>
              <a:rPr sz="1725" b="1">
                <a:solidFill>
                  <a:srgbClr val="8A3A32"/>
                </a:solidFill>
              </a:rPr>
              <a:t>App bị kẹt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B9B2B90-F1BC-4C75-B468-4E828E4A77A3}"/>
              </a:ext>
            </a:extLst>
          </p:cNvPr>
          <p:cNvSpPr>
            <a:spLocks noGrp="1"/>
          </p:cNvSpPr>
          <p:nvPr/>
        </p:nvSpPr>
        <p:spPr>
          <a:xfrm>
            <a:off x="5048250" y="2343150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Dùng Viber</a:t>
            </a:r>
          </a:p>
          <a:p>
            <a:pPr algn="ctr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để không kẹt việc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7F6C93-C375-437F-B70B-93732BE0FC34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Ghi nhận điểm kẹt</a:t>
            </a:r>
          </a:p>
          <a:p>
            <a:pPr algn="ctr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đối soát lại app</a:t>
            </a:r>
          </a:p>
        </p:txBody>
      </p:sp>
      <p:cxnSp>
        <p:nvCxnSpPr>
          <p:cNvPr id="16" name="Straight Arrow Connector 15"/>
          <p:cNvCxnSpPr>
            <a:stCxn id="3" idx="3"/>
            <a:endCxn id="4" idx="1"/>
          </p:cNvCxnSpPr>
          <p:nvPr/>
        </p:nvCxnSpPr>
        <p:spPr>
          <a:xfrm>
            <a:off x="3771900" y="2867025"/>
            <a:ext cx="127635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7" name="Straight Arrow Connector 16"/>
          <p:cNvCxnSpPr>
            <a:stCxn id="4" idx="3"/>
            <a:endCxn id="5" idx="1"/>
          </p:cNvCxnSpPr>
          <p:nvPr/>
        </p:nvCxnSpPr>
        <p:spPr>
          <a:xfrm>
            <a:off x="7143750" y="2867025"/>
            <a:ext cx="127635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16979E8-E881-420B-A77A-F55C1E4D93BB}"/>
              </a:ext>
            </a:extLst>
          </p:cNvPr>
          <p:cNvSpPr>
            <a:spLocks noGrp="1"/>
          </p:cNvSpPr>
          <p:nvPr/>
        </p:nvSpPr>
        <p:spPr>
          <a:xfrm>
            <a:off x="3943350" y="4229100"/>
            <a:ext cx="430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Trong ngày hoặc ngày làm việc kế tiếp.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B782D7-B015-49E8-A88D-6485229FDC4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16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EAA6CC7-2FD5-424D-B80A-5872AE647293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41829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9F0F6A-D0D4-493D-8D63-5DF8C27A4CD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TIÊU CHÍ THÀNH CÔNG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B3ACBB-BC2E-4E29-9DA0-0BFC59F210C1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Thành công không phải là không có lỗi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3C43CB1-633D-4F96-B314-1CD1854C1E2A}"/>
              </a:ext>
            </a:extLst>
          </p:cNvPr>
          <p:cNvSpPr>
            <a:spLocks noGrp="1"/>
          </p:cNvSpPr>
          <p:nvPr/>
        </p:nvSpPr>
        <p:spPr>
          <a:xfrm>
            <a:off x="2057400" y="1828800"/>
            <a:ext cx="2667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Tiện lợi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B35A73-06DD-4423-BB90-017EB1B0203C}"/>
              </a:ext>
            </a:extLst>
          </p:cNvPr>
          <p:cNvSpPr>
            <a:spLocks noGrp="1"/>
          </p:cNvSpPr>
          <p:nvPr/>
        </p:nvSpPr>
        <p:spPr>
          <a:xfrm>
            <a:off x="5143500" y="19431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ít phải đuổi việc hơn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5A2698-D380-49CD-A03B-21E5428F0DE8}"/>
              </a:ext>
            </a:extLst>
          </p:cNvPr>
          <p:cNvSpPr>
            <a:spLocks noGrp="1"/>
          </p:cNvSpPr>
          <p:nvPr/>
        </p:nvSpPr>
        <p:spPr>
          <a:xfrm>
            <a:off x="2057400" y="2667000"/>
            <a:ext cx="2667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Độ chính xác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665CC-6598-481B-8D10-54584F093CBB}"/>
              </a:ext>
            </a:extLst>
          </p:cNvPr>
          <p:cNvSpPr>
            <a:spLocks noGrp="1"/>
          </p:cNvSpPr>
          <p:nvPr/>
        </p:nvSpPr>
        <p:spPr>
          <a:xfrm>
            <a:off x="5143500" y="27813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số và trạng thái khớp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955065-428A-4C8D-8B03-CFB2C070A4F9}"/>
              </a:ext>
            </a:extLst>
          </p:cNvPr>
          <p:cNvSpPr>
            <a:spLocks noGrp="1"/>
          </p:cNvSpPr>
          <p:nvPr/>
        </p:nvSpPr>
        <p:spPr>
          <a:xfrm>
            <a:off x="2057400" y="3505200"/>
            <a:ext cx="2667000" cy="514350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Thấy realtime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F745EC-0DFC-446A-A1C3-50D0BC0489A3}"/>
              </a:ext>
            </a:extLst>
          </p:cNvPr>
          <p:cNvSpPr>
            <a:spLocks noGrp="1"/>
          </p:cNvSpPr>
          <p:nvPr/>
        </p:nvSpPr>
        <p:spPr>
          <a:xfrm>
            <a:off x="5143500" y="36195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thấy kẹt ở đâu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0000FCD-D2E9-418B-82BC-F5ED546423F5}"/>
              </a:ext>
            </a:extLst>
          </p:cNvPr>
          <p:cNvSpPr>
            <a:spLocks noGrp="1"/>
          </p:cNvSpPr>
          <p:nvPr/>
        </p:nvSpPr>
        <p:spPr>
          <a:xfrm>
            <a:off x="2057400" y="4343400"/>
            <a:ext cx="2667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Kiểm soát rủi ro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0DCF20-7106-42C7-8613-A1FB9359DB87}"/>
              </a:ext>
            </a:extLst>
          </p:cNvPr>
          <p:cNvSpPr>
            <a:spLocks noGrp="1"/>
          </p:cNvSpPr>
          <p:nvPr/>
        </p:nvSpPr>
        <p:spPr>
          <a:xfrm>
            <a:off x="5143500" y="4457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không bỏ qua im lặng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7225AF-1CB0-4289-905F-BCBCF3638CBF}"/>
              </a:ext>
            </a:extLst>
          </p:cNvPr>
          <p:cNvSpPr>
            <a:spLocks noGrp="1"/>
          </p:cNvSpPr>
          <p:nvPr/>
        </p:nvSpPr>
        <p:spPr>
          <a:xfrm>
            <a:off x="2362200" y="5600700"/>
            <a:ext cx="7467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Pilot tốt là thấy rõ vấn đề, người phụ trách và cách sửa.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63976E-AB93-4FAD-AFE3-4E06BBC121A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17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7A599CC-E6FD-4516-8F17-0525EA2831E2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8541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3EDDEF-83C1-4F76-BE18-22038FF0A8FF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TIÊU CHÍ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F8370C-8FDB-449D-B682-8A9EC794858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Tiện lợi: bớt hỏi, bớt nhắc, rõ bước tiếp theo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2604081-B7FC-4C38-8395-8ACFBE827586}"/>
              </a:ext>
            </a:extLst>
          </p:cNvPr>
          <p:cNvSpPr>
            <a:spLocks noGrp="1"/>
          </p:cNvSpPr>
          <p:nvPr/>
        </p:nvSpPr>
        <p:spPr>
          <a:xfrm>
            <a:off x="1695450" y="2324100"/>
            <a:ext cx="3048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Trước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“đơn này tới đâu rồi?”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39650F6-7816-4D91-8EA0-D531E2ED447D}"/>
              </a:ext>
            </a:extLst>
          </p:cNvPr>
          <p:cNvSpPr>
            <a:spLocks noGrp="1"/>
          </p:cNvSpPr>
          <p:nvPr/>
        </p:nvSpPr>
        <p:spPr>
          <a:xfrm>
            <a:off x="7448550" y="2324100"/>
            <a:ext cx="3048000" cy="1371600"/>
          </a:xfrm>
          <a:prstGeom prst="roundRect">
            <a:avLst>
              <a:gd name="adj" fmla="val 5556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Sau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mở app xem trạng thái</a:t>
            </a:r>
          </a:p>
        </p:txBody>
      </p:sp>
      <p:cxnSp>
        <p:nvCxnSpPr>
          <p:cNvPr id="13" name="Straight Arrow Connector 12"/>
          <p:cNvCxnSpPr>
            <a:stCxn id="3" idx="3"/>
            <a:endCxn id="4" idx="1"/>
          </p:cNvCxnSpPr>
          <p:nvPr/>
        </p:nvCxnSpPr>
        <p:spPr>
          <a:xfrm>
            <a:off x="4743450" y="3009900"/>
            <a:ext cx="270510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AAED22D-B4F6-4552-81CA-19B4EAAAB3A3}"/>
              </a:ext>
            </a:extLst>
          </p:cNvPr>
          <p:cNvSpPr>
            <a:spLocks noGrp="1"/>
          </p:cNvSpPr>
          <p:nvPr/>
        </p:nvSpPr>
        <p:spPr>
          <a:xfrm>
            <a:off x="2190750" y="44767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Dấu hiệu đạt: người dùng tự hoàn thành bước của mình mà không cần hỗ trợ liên tục.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490207-F479-4AA8-856D-3C99D9CC2334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18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25C0AA3-33D2-4BB0-9B7A-C7A113FAA33D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93205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A8AE86-2EB2-4B86-BA40-DB3EEA42D80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TIÊU CHÍ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6A2C73-D29B-4929-B803-CB6D23DC683C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Độ chính xác: số tiền, VAT, trạng thái phải khớp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A088FA-0006-4469-A5DE-C1F05C9D9E80}"/>
              </a:ext>
            </a:extLst>
          </p:cNvPr>
          <p:cNvSpPr>
            <a:spLocks noGrp="1"/>
          </p:cNvSpPr>
          <p:nvPr/>
        </p:nvSpPr>
        <p:spPr>
          <a:xfrm>
            <a:off x="2095500" y="2190750"/>
            <a:ext cx="2476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Thực tế offline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1256770-C618-4D09-B530-BCB9BD9C389A}"/>
              </a:ext>
            </a:extLst>
          </p:cNvPr>
          <p:cNvSpPr>
            <a:spLocks noGrp="1"/>
          </p:cNvSpPr>
          <p:nvPr/>
        </p:nvSpPr>
        <p:spPr>
          <a:xfrm>
            <a:off x="5334000" y="2400300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EAF3EE"/>
          </a:solidFill>
          <a:ln w="9525">
            <a:solidFill>
              <a:srgbClr val="C8DDCF"/>
            </a:solidFill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F6B4F"/>
                </a:solidFill>
              </a:defRPr>
            </a:pPr>
            <a:r>
              <a:rPr sz="1950" b="1">
                <a:solidFill>
                  <a:srgbClr val="2F6B4F"/>
                </a:solidFill>
              </a:rPr>
              <a:t>KHỚP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9E3DBA4-9852-4CD4-BE47-C45283D8BAFD}"/>
              </a:ext>
            </a:extLst>
          </p:cNvPr>
          <p:cNvSpPr>
            <a:spLocks noGrp="1"/>
          </p:cNvSpPr>
          <p:nvPr/>
        </p:nvSpPr>
        <p:spPr>
          <a:xfrm>
            <a:off x="7620000" y="2190750"/>
            <a:ext cx="2476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Trạng thái app</a:t>
            </a:r>
          </a:p>
        </p:txBody>
      </p:sp>
      <p:cxnSp>
        <p:nvCxnSpPr>
          <p:cNvPr id="16" name="Straight Arrow Connector 15"/>
          <p:cNvCxnSpPr>
            <a:stCxn id="3" idx="3"/>
            <a:endCxn id="4" idx="1"/>
          </p:cNvCxnSpPr>
          <p:nvPr/>
        </p:nvCxnSpPr>
        <p:spPr>
          <a:xfrm>
            <a:off x="4572000" y="2752725"/>
            <a:ext cx="76200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7" name="Straight Arrow Connector 16"/>
          <p:cNvCxnSpPr>
            <a:stCxn id="4" idx="3"/>
            <a:endCxn id="5" idx="1"/>
          </p:cNvCxnSpPr>
          <p:nvPr/>
        </p:nvCxnSpPr>
        <p:spPr>
          <a:xfrm>
            <a:off x="6858000" y="2752725"/>
            <a:ext cx="76200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1691ABB-D12B-42D6-9537-C251C3794AD1}"/>
              </a:ext>
            </a:extLst>
          </p:cNvPr>
          <p:cNvSpPr>
            <a:spLocks noGrp="1"/>
          </p:cNvSpPr>
          <p:nvPr/>
        </p:nvSpPr>
        <p:spPr>
          <a:xfrm>
            <a:off x="2000250" y="4343400"/>
            <a:ext cx="819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0">
                <a:solidFill>
                  <a:srgbClr val="666666"/>
                </a:solidFill>
              </a:defRPr>
            </a:pPr>
            <a:r>
              <a:rPr sz="1725" b="0">
                <a:solidFill>
                  <a:srgbClr val="666666"/>
                </a:solidFill>
              </a:rPr>
              <a:t>Số tiền, VAT, số lượng thực nhận, trạng thái duyệt, công nợ, chi tiền.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57ADD1-F24A-46A6-84A9-3480F63BC8CE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19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3D6BDCE-5BD8-4120-AE24-C8FC58BE3A4C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43399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80C4DC-3B1F-42F8-857A-7CDC3FA1248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TIÊU CHÍ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0B802F-5920-4E28-AE26-F789CB0F142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Thấy realtime: dashboard phải trả lời ba câu hỏi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686FEBF-F212-4FC4-B58B-63C13B0420F7}"/>
              </a:ext>
            </a:extLst>
          </p:cNvPr>
          <p:cNvSpPr>
            <a:spLocks noGrp="1"/>
          </p:cNvSpPr>
          <p:nvPr/>
        </p:nvSpPr>
        <p:spPr>
          <a:xfrm>
            <a:off x="1390650" y="2400300"/>
            <a:ext cx="2857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Kẹt ở đâu?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97B6D1-5B78-4084-9B82-DD8E4510E9CF}"/>
              </a:ext>
            </a:extLst>
          </p:cNvPr>
          <p:cNvSpPr>
            <a:spLocks noGrp="1"/>
          </p:cNvSpPr>
          <p:nvPr/>
        </p:nvSpPr>
        <p:spPr>
          <a:xfrm>
            <a:off x="4667250" y="2400300"/>
            <a:ext cx="2857500" cy="1257300"/>
          </a:xfrm>
          <a:prstGeom prst="roundRect">
            <a:avLst>
              <a:gd name="adj" fmla="val 6061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Ai giữ bước tiếp theo?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BB33C0D-188D-4BEF-BB5F-85B6BEB16575}"/>
              </a:ext>
            </a:extLst>
          </p:cNvPr>
          <p:cNvSpPr>
            <a:spLocks noGrp="1"/>
          </p:cNvSpPr>
          <p:nvPr/>
        </p:nvSpPr>
        <p:spPr>
          <a:xfrm>
            <a:off x="7943850" y="2400300"/>
            <a:ext cx="2857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Giá trị tiền bao nhiêu?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5B11E2-2F63-4BA0-8143-9DC1D8E3E607}"/>
              </a:ext>
            </a:extLst>
          </p:cNvPr>
          <p:cNvSpPr>
            <a:spLocks noGrp="1"/>
          </p:cNvSpPr>
          <p:nvPr/>
        </p:nvSpPr>
        <p:spPr>
          <a:xfrm>
            <a:off x="2457450" y="4419600"/>
            <a:ext cx="727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Nếu lãnh đạo vẫn phải hỏi thủ công, dashboard chưa làm tròn vai.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557F89-B626-46BC-92C0-DC68049D11C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20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FD97D5B-1EE5-4176-B507-93FEE4FEE002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1671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9EFE40-A49E-4B28-A4A9-DE09430BD78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TIÊU CHÍ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12A9D4-72FE-4081-9AC5-24C676FF3B8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Kiểm soát rủi ro: mọi ngoại lệ phải hiện ra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D8AEBAF-BE09-46C6-939F-65E125DC6F55}"/>
              </a:ext>
            </a:extLst>
          </p:cNvPr>
          <p:cNvSpPr>
            <a:spLocks noGrp="1"/>
          </p:cNvSpPr>
          <p:nvPr/>
        </p:nvSpPr>
        <p:spPr>
          <a:xfrm>
            <a:off x="1714500" y="209550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F7ECEA"/>
          </a:solidFill>
          <a:ln w="9525">
            <a:solidFill>
              <a:srgbClr val="E2C6C1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3A32"/>
                </a:solidFill>
              </a:defRPr>
            </a:pPr>
            <a:r>
              <a:rPr sz="1800" b="1">
                <a:solidFill>
                  <a:srgbClr val="8A3A32"/>
                </a:solidFill>
              </a:rPr>
              <a:t>Không âm thầm bỏ qua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FB0895-DFD8-44E2-B349-0C884EDCD309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Điểm kẹt có người phụ trách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536DB1-B7B6-4C3A-87D8-9EEB3AC35AB2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Danh sách cần sửa cuối pilot</a:t>
            </a:r>
          </a:p>
        </p:txBody>
      </p:sp>
      <p:cxnSp>
        <p:nvCxnSpPr>
          <p:cNvPr id="16" name="Straight Arrow Connector 15"/>
          <p:cNvCxnSpPr>
            <a:stCxn id="3" idx="3"/>
            <a:endCxn id="4" idx="1"/>
          </p:cNvCxnSpPr>
          <p:nvPr/>
        </p:nvCxnSpPr>
        <p:spPr>
          <a:xfrm>
            <a:off x="4191000" y="2705100"/>
            <a:ext cx="66675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7" name="Straight Arrow Connector 16"/>
          <p:cNvCxnSpPr>
            <a:stCxn id="4" idx="3"/>
            <a:endCxn id="5" idx="1"/>
          </p:cNvCxnSpPr>
          <p:nvPr/>
        </p:nvCxnSpPr>
        <p:spPr>
          <a:xfrm>
            <a:off x="7334250" y="2705100"/>
            <a:ext cx="66675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3B1369C-0E09-462B-973E-3D73685AA77A}"/>
              </a:ext>
            </a:extLst>
          </p:cNvPr>
          <p:cNvSpPr>
            <a:spLocks noGrp="1"/>
          </p:cNvSpPr>
          <p:nvPr/>
        </p:nvSpPr>
        <p:spPr>
          <a:xfrm>
            <a:off x="2038350" y="4267200"/>
            <a:ext cx="811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666666"/>
                </a:solidFill>
              </a:defRPr>
            </a:pPr>
            <a:r>
              <a:rPr sz="1875" b="0">
                <a:solidFill>
                  <a:srgbClr val="666666"/>
                </a:solidFill>
              </a:rPr>
              <a:t>Rủi ro không biến mất. Nhưng nó phải được đặt tên, gán người và xử lý.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7C66BB-BEE1-40D0-A73F-C66EE630545E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21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AF151F7-7924-49E2-A808-D62C82B4550E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20423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6A99362-44D9-425A-A842-3A4266D1222F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KHUNG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CFF79F-7631-4293-AA3D-718E5D43161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Phần demo chỉ cần chứng minh đường đi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5CBC1D2-EA06-4A44-A1EB-996BF46339CE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952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06E96A6-5843-491A-8D3A-B8AA5CD4E064}"/>
              </a:ext>
            </a:extLst>
          </p:cNvPr>
          <p:cNvSpPr>
            <a:spLocks noGrp="1"/>
          </p:cNvSpPr>
          <p:nvPr/>
        </p:nvSpPr>
        <p:spPr>
          <a:xfrm>
            <a:off x="971550" y="1924050"/>
            <a:ext cx="742950" cy="1200150"/>
          </a:xfrm>
          <a:prstGeom prst="roundRect">
            <a:avLst>
              <a:gd name="adj" fmla="val 7692"/>
            </a:avLst>
          </a:prstGeom>
          <a:solidFill>
            <a:srgbClr val="F3F3F1"/>
          </a:solidFill>
          <a:ln w="9525">
            <a:solidFill>
              <a:srgbClr val="ECEB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9DDD84-0274-4929-B5A0-E0E8C0F263EA}"/>
              </a:ext>
            </a:extLst>
          </p:cNvPr>
          <p:cNvSpPr>
            <a:spLocks noGrp="1"/>
          </p:cNvSpPr>
          <p:nvPr/>
        </p:nvSpPr>
        <p:spPr>
          <a:xfrm>
            <a:off x="1095375" y="21145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814E80A-1003-480B-838A-F7CFB7745749}"/>
              </a:ext>
            </a:extLst>
          </p:cNvPr>
          <p:cNvSpPr>
            <a:spLocks noGrp="1"/>
          </p:cNvSpPr>
          <p:nvPr/>
        </p:nvSpPr>
        <p:spPr>
          <a:xfrm>
            <a:off x="1095375" y="24003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D18FDB-E831-4256-BFE5-A2C20745FE57}"/>
              </a:ext>
            </a:extLst>
          </p:cNvPr>
          <p:cNvSpPr>
            <a:spLocks noGrp="1"/>
          </p:cNvSpPr>
          <p:nvPr/>
        </p:nvSpPr>
        <p:spPr>
          <a:xfrm>
            <a:off x="1095375" y="26860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93B42E-3532-4134-BB16-F640EEEA74A7}"/>
              </a:ext>
            </a:extLst>
          </p:cNvPr>
          <p:cNvSpPr>
            <a:spLocks noGrp="1"/>
          </p:cNvSpPr>
          <p:nvPr/>
        </p:nvSpPr>
        <p:spPr>
          <a:xfrm>
            <a:off x="1095375" y="29718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AAF21C-14BA-4BC4-9A2C-55F27820BD4F}"/>
              </a:ext>
            </a:extLst>
          </p:cNvPr>
          <p:cNvSpPr>
            <a:spLocks noGrp="1"/>
          </p:cNvSpPr>
          <p:nvPr/>
        </p:nvSpPr>
        <p:spPr>
          <a:xfrm>
            <a:off x="1924050" y="20574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Tạo DXMH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780D948-98ED-4207-A303-3FC6F877CAB5}"/>
              </a:ext>
            </a:extLst>
          </p:cNvPr>
          <p:cNvSpPr>
            <a:spLocks noGrp="1"/>
          </p:cNvSpPr>
          <p:nvPr/>
        </p:nvSpPr>
        <p:spPr>
          <a:xfrm>
            <a:off x="1924050" y="2476500"/>
            <a:ext cx="1562100" cy="361950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NVMH nhập nhu cầu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C7D595D-7605-408D-AD07-D745DAA36EED}"/>
              </a:ext>
            </a:extLst>
          </p:cNvPr>
          <p:cNvSpPr>
            <a:spLocks noGrp="1"/>
          </p:cNvSpPr>
          <p:nvPr/>
        </p:nvSpPr>
        <p:spPr>
          <a:xfrm>
            <a:off x="1924050" y="2971800"/>
            <a:ext cx="1562100" cy="133350"/>
          </a:xfrm>
          <a:prstGeom prst="roundRect">
            <a:avLst>
              <a:gd name="adj" fmla="val 50000"/>
            </a:avLst>
          </a:prstGeom>
          <a:solidFill>
            <a:srgbClr val="DFDEDA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6F8F533-4056-45C7-955D-AF90E11ADF14}"/>
              </a:ext>
            </a:extLst>
          </p:cNvPr>
          <p:cNvSpPr>
            <a:spLocks noGrp="1"/>
          </p:cNvSpPr>
          <p:nvPr/>
        </p:nvSpPr>
        <p:spPr>
          <a:xfrm>
            <a:off x="1924050" y="3257550"/>
            <a:ext cx="1047750" cy="133350"/>
          </a:xfrm>
          <a:prstGeom prst="roundRect">
            <a:avLst>
              <a:gd name="adj" fmla="val 50000"/>
            </a:avLst>
          </a:prstGeom>
          <a:solidFill>
            <a:srgbClr val="E8E7E3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B42F887-E99F-41F7-AD5E-9F72A0CB8AC1}"/>
              </a:ext>
            </a:extLst>
          </p:cNvPr>
          <p:cNvSpPr>
            <a:spLocks noGrp="1"/>
          </p:cNvSpPr>
          <p:nvPr/>
        </p:nvSpPr>
        <p:spPr>
          <a:xfrm>
            <a:off x="4476750" y="1809750"/>
            <a:ext cx="2952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50A2149-FEAF-445A-826B-F7C2F1355269}"/>
              </a:ext>
            </a:extLst>
          </p:cNvPr>
          <p:cNvSpPr>
            <a:spLocks noGrp="1"/>
          </p:cNvSpPr>
          <p:nvPr/>
        </p:nvSpPr>
        <p:spPr>
          <a:xfrm>
            <a:off x="4591050" y="1924050"/>
            <a:ext cx="742950" cy="1200150"/>
          </a:xfrm>
          <a:prstGeom prst="roundRect">
            <a:avLst>
              <a:gd name="adj" fmla="val 7692"/>
            </a:avLst>
          </a:prstGeom>
          <a:solidFill>
            <a:srgbClr val="F3F3F1"/>
          </a:solidFill>
          <a:ln w="9525">
            <a:solidFill>
              <a:srgbClr val="ECEB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B85E753-F10D-426A-A49C-5DF1EEA50328}"/>
              </a:ext>
            </a:extLst>
          </p:cNvPr>
          <p:cNvSpPr>
            <a:spLocks noGrp="1"/>
          </p:cNvSpPr>
          <p:nvPr/>
        </p:nvSpPr>
        <p:spPr>
          <a:xfrm>
            <a:off x="4714875" y="21145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088BAE0-CF03-42F8-8AD5-8479AAC0AFC1}"/>
              </a:ext>
            </a:extLst>
          </p:cNvPr>
          <p:cNvSpPr>
            <a:spLocks noGrp="1"/>
          </p:cNvSpPr>
          <p:nvPr/>
        </p:nvSpPr>
        <p:spPr>
          <a:xfrm>
            <a:off x="4714875" y="24003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249B160-F6AC-44D4-85C4-8FA0644F74D1}"/>
              </a:ext>
            </a:extLst>
          </p:cNvPr>
          <p:cNvSpPr>
            <a:spLocks noGrp="1"/>
          </p:cNvSpPr>
          <p:nvPr/>
        </p:nvSpPr>
        <p:spPr>
          <a:xfrm>
            <a:off x="4714875" y="26860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65AE1FD-1460-4FC6-8A7F-84F4B5FDE61D}"/>
              </a:ext>
            </a:extLst>
          </p:cNvPr>
          <p:cNvSpPr>
            <a:spLocks noGrp="1"/>
          </p:cNvSpPr>
          <p:nvPr/>
        </p:nvSpPr>
        <p:spPr>
          <a:xfrm>
            <a:off x="4714875" y="29718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2ADE99-9C26-4874-A771-A87FDC7D011B}"/>
              </a:ext>
            </a:extLst>
          </p:cNvPr>
          <p:cNvSpPr>
            <a:spLocks noGrp="1"/>
          </p:cNvSpPr>
          <p:nvPr/>
        </p:nvSpPr>
        <p:spPr>
          <a:xfrm>
            <a:off x="5543550" y="20574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Duyệt ĐX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563356F-9256-4BDC-A286-4EAB864FAC2D}"/>
              </a:ext>
            </a:extLst>
          </p:cNvPr>
          <p:cNvSpPr>
            <a:spLocks noGrp="1"/>
          </p:cNvSpPr>
          <p:nvPr/>
        </p:nvSpPr>
        <p:spPr>
          <a:xfrm>
            <a:off x="5543550" y="2476500"/>
            <a:ext cx="1562100" cy="361950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lãnh đạo xử lý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91A78AC-EEB3-4BE1-9646-FC98AFD7F056}"/>
              </a:ext>
            </a:extLst>
          </p:cNvPr>
          <p:cNvSpPr>
            <a:spLocks noGrp="1"/>
          </p:cNvSpPr>
          <p:nvPr/>
        </p:nvSpPr>
        <p:spPr>
          <a:xfrm>
            <a:off x="5543550" y="2971800"/>
            <a:ext cx="1562100" cy="133350"/>
          </a:xfrm>
          <a:prstGeom prst="roundRect">
            <a:avLst>
              <a:gd name="adj" fmla="val 50000"/>
            </a:avLst>
          </a:prstGeom>
          <a:solidFill>
            <a:srgbClr val="DFDEDA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A977D95-9F67-42BD-89C4-52CF7B37A24E}"/>
              </a:ext>
            </a:extLst>
          </p:cNvPr>
          <p:cNvSpPr>
            <a:spLocks noGrp="1"/>
          </p:cNvSpPr>
          <p:nvPr/>
        </p:nvSpPr>
        <p:spPr>
          <a:xfrm>
            <a:off x="5543550" y="3257550"/>
            <a:ext cx="1047750" cy="133350"/>
          </a:xfrm>
          <a:prstGeom prst="roundRect">
            <a:avLst>
              <a:gd name="adj" fmla="val 50000"/>
            </a:avLst>
          </a:prstGeom>
          <a:solidFill>
            <a:srgbClr val="E8E7E3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6796F7D-B259-429A-A29F-0BC81B2EDA58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2952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418CCA0-74B1-4A22-BD21-27541A44CF1E}"/>
              </a:ext>
            </a:extLst>
          </p:cNvPr>
          <p:cNvSpPr>
            <a:spLocks noGrp="1"/>
          </p:cNvSpPr>
          <p:nvPr/>
        </p:nvSpPr>
        <p:spPr>
          <a:xfrm>
            <a:off x="8210550" y="1924050"/>
            <a:ext cx="742950" cy="1200150"/>
          </a:xfrm>
          <a:prstGeom prst="roundRect">
            <a:avLst>
              <a:gd name="adj" fmla="val 7692"/>
            </a:avLst>
          </a:prstGeom>
          <a:solidFill>
            <a:srgbClr val="F3F3F1"/>
          </a:solidFill>
          <a:ln w="9525">
            <a:solidFill>
              <a:srgbClr val="ECEB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D01478B-300A-43AC-92D7-77815D6C9E93}"/>
              </a:ext>
            </a:extLst>
          </p:cNvPr>
          <p:cNvSpPr>
            <a:spLocks noGrp="1"/>
          </p:cNvSpPr>
          <p:nvPr/>
        </p:nvSpPr>
        <p:spPr>
          <a:xfrm>
            <a:off x="8334375" y="21145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D66F64E-8400-48F0-B3B8-95E45018F93D}"/>
              </a:ext>
            </a:extLst>
          </p:cNvPr>
          <p:cNvSpPr>
            <a:spLocks noGrp="1"/>
          </p:cNvSpPr>
          <p:nvPr/>
        </p:nvSpPr>
        <p:spPr>
          <a:xfrm>
            <a:off x="8334375" y="24003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849F0FC-883B-4C7D-9760-B6A061EB15A2}"/>
              </a:ext>
            </a:extLst>
          </p:cNvPr>
          <p:cNvSpPr>
            <a:spLocks noGrp="1"/>
          </p:cNvSpPr>
          <p:nvPr/>
        </p:nvSpPr>
        <p:spPr>
          <a:xfrm>
            <a:off x="8334375" y="26860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F8B9FA7-0C38-4827-8357-900DF2347E04}"/>
              </a:ext>
            </a:extLst>
          </p:cNvPr>
          <p:cNvSpPr>
            <a:spLocks noGrp="1"/>
          </p:cNvSpPr>
          <p:nvPr/>
        </p:nvSpPr>
        <p:spPr>
          <a:xfrm>
            <a:off x="8334375" y="29718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C70CFC-831B-4A7E-89F7-DEE179E13ADE}"/>
              </a:ext>
            </a:extLst>
          </p:cNvPr>
          <p:cNvSpPr>
            <a:spLocks noGrp="1"/>
          </p:cNvSpPr>
          <p:nvPr/>
        </p:nvSpPr>
        <p:spPr>
          <a:xfrm>
            <a:off x="9163050" y="20574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Nghiệm thu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7409D17-C8E0-47CB-9E8C-76304A9EA542}"/>
              </a:ext>
            </a:extLst>
          </p:cNvPr>
          <p:cNvSpPr>
            <a:spLocks noGrp="1"/>
          </p:cNvSpPr>
          <p:nvPr/>
        </p:nvSpPr>
        <p:spPr>
          <a:xfrm>
            <a:off x="9163050" y="2476500"/>
            <a:ext cx="1562100" cy="361950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bằng chứng bắt buộc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ED5B909-48DA-41C5-A059-F1F460BC8F16}"/>
              </a:ext>
            </a:extLst>
          </p:cNvPr>
          <p:cNvSpPr>
            <a:spLocks noGrp="1"/>
          </p:cNvSpPr>
          <p:nvPr/>
        </p:nvSpPr>
        <p:spPr>
          <a:xfrm>
            <a:off x="9163050" y="2971800"/>
            <a:ext cx="1562100" cy="133350"/>
          </a:xfrm>
          <a:prstGeom prst="roundRect">
            <a:avLst>
              <a:gd name="adj" fmla="val 50000"/>
            </a:avLst>
          </a:prstGeom>
          <a:solidFill>
            <a:srgbClr val="DFDEDA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5667083-63C3-4971-AF97-F40823970E7B}"/>
              </a:ext>
            </a:extLst>
          </p:cNvPr>
          <p:cNvSpPr>
            <a:spLocks noGrp="1"/>
          </p:cNvSpPr>
          <p:nvPr/>
        </p:nvSpPr>
        <p:spPr>
          <a:xfrm>
            <a:off x="9163050" y="3257550"/>
            <a:ext cx="1047750" cy="133350"/>
          </a:xfrm>
          <a:prstGeom prst="roundRect">
            <a:avLst>
              <a:gd name="adj" fmla="val 50000"/>
            </a:avLst>
          </a:prstGeom>
          <a:solidFill>
            <a:srgbClr val="E8E7E3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9AB0913-7EC4-49B9-B38A-AC7F06E61CAA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2952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7EEEB59-E6B5-4075-BBB8-20899079727A}"/>
              </a:ext>
            </a:extLst>
          </p:cNvPr>
          <p:cNvSpPr>
            <a:spLocks noGrp="1"/>
          </p:cNvSpPr>
          <p:nvPr/>
        </p:nvSpPr>
        <p:spPr>
          <a:xfrm>
            <a:off x="971550" y="3733800"/>
            <a:ext cx="742950" cy="1200150"/>
          </a:xfrm>
          <a:prstGeom prst="roundRect">
            <a:avLst>
              <a:gd name="adj" fmla="val 7692"/>
            </a:avLst>
          </a:prstGeom>
          <a:solidFill>
            <a:srgbClr val="F3F3F1"/>
          </a:solidFill>
          <a:ln w="9525">
            <a:solidFill>
              <a:srgbClr val="ECEB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3158581-2262-4A12-85DB-EB3D1C43BD77}"/>
              </a:ext>
            </a:extLst>
          </p:cNvPr>
          <p:cNvSpPr>
            <a:spLocks noGrp="1"/>
          </p:cNvSpPr>
          <p:nvPr/>
        </p:nvSpPr>
        <p:spPr>
          <a:xfrm>
            <a:off x="1095375" y="39243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2AE354E-8CD1-4FA0-B089-AC88A2C05034}"/>
              </a:ext>
            </a:extLst>
          </p:cNvPr>
          <p:cNvSpPr>
            <a:spLocks noGrp="1"/>
          </p:cNvSpPr>
          <p:nvPr/>
        </p:nvSpPr>
        <p:spPr>
          <a:xfrm>
            <a:off x="1095375" y="42100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7AFD29D-1D95-4B9D-A20C-218CC0C8DBFF}"/>
              </a:ext>
            </a:extLst>
          </p:cNvPr>
          <p:cNvSpPr>
            <a:spLocks noGrp="1"/>
          </p:cNvSpPr>
          <p:nvPr/>
        </p:nvSpPr>
        <p:spPr>
          <a:xfrm>
            <a:off x="1095375" y="44958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CC3F211-074F-4F04-B98B-037D036804A4}"/>
              </a:ext>
            </a:extLst>
          </p:cNvPr>
          <p:cNvSpPr>
            <a:spLocks noGrp="1"/>
          </p:cNvSpPr>
          <p:nvPr/>
        </p:nvSpPr>
        <p:spPr>
          <a:xfrm>
            <a:off x="1095375" y="47815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1CB23F4-4993-4AFA-AFAC-319B5AB1A04D}"/>
              </a:ext>
            </a:extLst>
          </p:cNvPr>
          <p:cNvSpPr>
            <a:spLocks noGrp="1"/>
          </p:cNvSpPr>
          <p:nvPr/>
        </p:nvSpPr>
        <p:spPr>
          <a:xfrm>
            <a:off x="1924050" y="3867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KTTH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CAC777C-D9DD-4103-B90B-9C625DE42296}"/>
              </a:ext>
            </a:extLst>
          </p:cNvPr>
          <p:cNvSpPr>
            <a:spLocks noGrp="1"/>
          </p:cNvSpPr>
          <p:nvPr/>
        </p:nvSpPr>
        <p:spPr>
          <a:xfrm>
            <a:off x="1924050" y="4286250"/>
            <a:ext cx="1562100" cy="361950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lưu công nợ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A99F1FE-6D77-4DC5-9DD0-BD996D472957}"/>
              </a:ext>
            </a:extLst>
          </p:cNvPr>
          <p:cNvSpPr>
            <a:spLocks noGrp="1"/>
          </p:cNvSpPr>
          <p:nvPr/>
        </p:nvSpPr>
        <p:spPr>
          <a:xfrm>
            <a:off x="1924050" y="4781550"/>
            <a:ext cx="1562100" cy="133350"/>
          </a:xfrm>
          <a:prstGeom prst="roundRect">
            <a:avLst>
              <a:gd name="adj" fmla="val 50000"/>
            </a:avLst>
          </a:prstGeom>
          <a:solidFill>
            <a:srgbClr val="DFDEDA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72A9834-6AB1-4F69-A563-BADA840896F2}"/>
              </a:ext>
            </a:extLst>
          </p:cNvPr>
          <p:cNvSpPr>
            <a:spLocks noGrp="1"/>
          </p:cNvSpPr>
          <p:nvPr/>
        </p:nvSpPr>
        <p:spPr>
          <a:xfrm>
            <a:off x="1924050" y="5067300"/>
            <a:ext cx="1047750" cy="133350"/>
          </a:xfrm>
          <a:prstGeom prst="roundRect">
            <a:avLst>
              <a:gd name="adj" fmla="val 50000"/>
            </a:avLst>
          </a:prstGeom>
          <a:solidFill>
            <a:srgbClr val="E8E7E3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B84448E-8069-4D1C-BF7A-F527F57A9E9C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2952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9EED42B-F441-4260-975B-8DB85B1574E1}"/>
              </a:ext>
            </a:extLst>
          </p:cNvPr>
          <p:cNvSpPr>
            <a:spLocks noGrp="1"/>
          </p:cNvSpPr>
          <p:nvPr/>
        </p:nvSpPr>
        <p:spPr>
          <a:xfrm>
            <a:off x="4591050" y="3733800"/>
            <a:ext cx="742950" cy="1200150"/>
          </a:xfrm>
          <a:prstGeom prst="roundRect">
            <a:avLst>
              <a:gd name="adj" fmla="val 7692"/>
            </a:avLst>
          </a:prstGeom>
          <a:solidFill>
            <a:srgbClr val="F3F3F1"/>
          </a:solidFill>
          <a:ln w="9525">
            <a:solidFill>
              <a:srgbClr val="ECEB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E363B43-D87A-4298-8A3D-E53F0BF00270}"/>
              </a:ext>
            </a:extLst>
          </p:cNvPr>
          <p:cNvSpPr>
            <a:spLocks noGrp="1"/>
          </p:cNvSpPr>
          <p:nvPr/>
        </p:nvSpPr>
        <p:spPr>
          <a:xfrm>
            <a:off x="4714875" y="39243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3489056-B0DB-44A9-816C-A1FE71252B37}"/>
              </a:ext>
            </a:extLst>
          </p:cNvPr>
          <p:cNvSpPr>
            <a:spLocks noGrp="1"/>
          </p:cNvSpPr>
          <p:nvPr/>
        </p:nvSpPr>
        <p:spPr>
          <a:xfrm>
            <a:off x="4714875" y="42100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A00DF64-9E07-4729-B96D-268D4C043D1A}"/>
              </a:ext>
            </a:extLst>
          </p:cNvPr>
          <p:cNvSpPr>
            <a:spLocks noGrp="1"/>
          </p:cNvSpPr>
          <p:nvPr/>
        </p:nvSpPr>
        <p:spPr>
          <a:xfrm>
            <a:off x="4714875" y="44958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5ABE690-E61B-4CC5-8C92-C189A97BCD1A}"/>
              </a:ext>
            </a:extLst>
          </p:cNvPr>
          <p:cNvSpPr>
            <a:spLocks noGrp="1"/>
          </p:cNvSpPr>
          <p:nvPr/>
        </p:nvSpPr>
        <p:spPr>
          <a:xfrm>
            <a:off x="4714875" y="47815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EE8980-9728-4429-B71E-F4EEF912A3AD}"/>
              </a:ext>
            </a:extLst>
          </p:cNvPr>
          <p:cNvSpPr>
            <a:spLocks noGrp="1"/>
          </p:cNvSpPr>
          <p:nvPr/>
        </p:nvSpPr>
        <p:spPr>
          <a:xfrm>
            <a:off x="5543550" y="3867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DXTT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4996B87-FA6F-4268-A718-C7531DB8F3B4}"/>
              </a:ext>
            </a:extLst>
          </p:cNvPr>
          <p:cNvSpPr>
            <a:spLocks noGrp="1"/>
          </p:cNvSpPr>
          <p:nvPr/>
        </p:nvSpPr>
        <p:spPr>
          <a:xfrm>
            <a:off x="5543550" y="4286250"/>
            <a:ext cx="1562100" cy="361950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trình duyệt chi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0625158F-1467-4DC2-9E49-D5EA7F5D4367}"/>
              </a:ext>
            </a:extLst>
          </p:cNvPr>
          <p:cNvSpPr>
            <a:spLocks noGrp="1"/>
          </p:cNvSpPr>
          <p:nvPr/>
        </p:nvSpPr>
        <p:spPr>
          <a:xfrm>
            <a:off x="5543550" y="4781550"/>
            <a:ext cx="1562100" cy="133350"/>
          </a:xfrm>
          <a:prstGeom prst="roundRect">
            <a:avLst>
              <a:gd name="adj" fmla="val 50000"/>
            </a:avLst>
          </a:prstGeom>
          <a:solidFill>
            <a:srgbClr val="DFDEDA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C951DD4-1EEB-4FFE-A342-250E19AAC3E8}"/>
              </a:ext>
            </a:extLst>
          </p:cNvPr>
          <p:cNvSpPr>
            <a:spLocks noGrp="1"/>
          </p:cNvSpPr>
          <p:nvPr/>
        </p:nvSpPr>
        <p:spPr>
          <a:xfrm>
            <a:off x="5543550" y="5067300"/>
            <a:ext cx="1047750" cy="133350"/>
          </a:xfrm>
          <a:prstGeom prst="roundRect">
            <a:avLst>
              <a:gd name="adj" fmla="val 50000"/>
            </a:avLst>
          </a:prstGeom>
          <a:solidFill>
            <a:srgbClr val="E8E7E3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73CFDC37-0436-4A7F-B572-62DB82CF852D}"/>
              </a:ext>
            </a:extLst>
          </p:cNvPr>
          <p:cNvSpPr>
            <a:spLocks noGrp="1"/>
          </p:cNvSpPr>
          <p:nvPr/>
        </p:nvSpPr>
        <p:spPr>
          <a:xfrm>
            <a:off x="8096250" y="3619500"/>
            <a:ext cx="2952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ACAA5D0-6644-429E-98C5-29C6929145DA}"/>
              </a:ext>
            </a:extLst>
          </p:cNvPr>
          <p:cNvSpPr>
            <a:spLocks noGrp="1"/>
          </p:cNvSpPr>
          <p:nvPr/>
        </p:nvSpPr>
        <p:spPr>
          <a:xfrm>
            <a:off x="8210550" y="3733800"/>
            <a:ext cx="742950" cy="1200150"/>
          </a:xfrm>
          <a:prstGeom prst="roundRect">
            <a:avLst>
              <a:gd name="adj" fmla="val 7692"/>
            </a:avLst>
          </a:prstGeom>
          <a:solidFill>
            <a:srgbClr val="F3F3F1"/>
          </a:solidFill>
          <a:ln w="9525">
            <a:solidFill>
              <a:srgbClr val="ECEB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35BA14A-6EB5-4461-AD96-2CAA417582C8}"/>
              </a:ext>
            </a:extLst>
          </p:cNvPr>
          <p:cNvSpPr>
            <a:spLocks noGrp="1"/>
          </p:cNvSpPr>
          <p:nvPr/>
        </p:nvSpPr>
        <p:spPr>
          <a:xfrm>
            <a:off x="8334375" y="39243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77D94629-A3B3-492B-B9DC-4105FB34352D}"/>
              </a:ext>
            </a:extLst>
          </p:cNvPr>
          <p:cNvSpPr>
            <a:spLocks noGrp="1"/>
          </p:cNvSpPr>
          <p:nvPr/>
        </p:nvSpPr>
        <p:spPr>
          <a:xfrm>
            <a:off x="8334375" y="42100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265957C-9CE8-4AC2-9674-1C9D353011A2}"/>
              </a:ext>
            </a:extLst>
          </p:cNvPr>
          <p:cNvSpPr>
            <a:spLocks noGrp="1"/>
          </p:cNvSpPr>
          <p:nvPr/>
        </p:nvSpPr>
        <p:spPr>
          <a:xfrm>
            <a:off x="8334375" y="449580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38DC8E5-D393-450F-931F-E6E5DBBC29AB}"/>
              </a:ext>
            </a:extLst>
          </p:cNvPr>
          <p:cNvSpPr>
            <a:spLocks noGrp="1"/>
          </p:cNvSpPr>
          <p:nvPr/>
        </p:nvSpPr>
        <p:spPr>
          <a:xfrm>
            <a:off x="8334375" y="4781550"/>
            <a:ext cx="495300" cy="85725"/>
          </a:xfrm>
          <a:prstGeom prst="roundRect">
            <a:avLst>
              <a:gd name="adj" fmla="val 50000"/>
            </a:avLst>
          </a:prstGeom>
          <a:solidFill>
            <a:srgbClr val="DADAD7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712DE00-A0A0-43BD-9DD4-8E71EF6D5572}"/>
              </a:ext>
            </a:extLst>
          </p:cNvPr>
          <p:cNvSpPr>
            <a:spLocks noGrp="1"/>
          </p:cNvSpPr>
          <p:nvPr/>
        </p:nvSpPr>
        <p:spPr>
          <a:xfrm>
            <a:off x="9163050" y="3867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Thủ quỹ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EBD9340-6B2C-4690-9AB0-187E1DA4E95D}"/>
              </a:ext>
            </a:extLst>
          </p:cNvPr>
          <p:cNvSpPr>
            <a:spLocks noGrp="1"/>
          </p:cNvSpPr>
          <p:nvPr/>
        </p:nvSpPr>
        <p:spPr>
          <a:xfrm>
            <a:off x="9163050" y="4286250"/>
            <a:ext cx="1562100" cy="361950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chứng từ chi tiền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C87E2B0B-251F-4123-996A-B7E501A5B680}"/>
              </a:ext>
            </a:extLst>
          </p:cNvPr>
          <p:cNvSpPr>
            <a:spLocks noGrp="1"/>
          </p:cNvSpPr>
          <p:nvPr/>
        </p:nvSpPr>
        <p:spPr>
          <a:xfrm>
            <a:off x="9163050" y="4781550"/>
            <a:ext cx="1562100" cy="133350"/>
          </a:xfrm>
          <a:prstGeom prst="roundRect">
            <a:avLst>
              <a:gd name="adj" fmla="val 50000"/>
            </a:avLst>
          </a:prstGeom>
          <a:solidFill>
            <a:srgbClr val="DFDEDA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0A10253A-286B-415E-92EC-0C16932B556E}"/>
              </a:ext>
            </a:extLst>
          </p:cNvPr>
          <p:cNvSpPr>
            <a:spLocks noGrp="1"/>
          </p:cNvSpPr>
          <p:nvPr/>
        </p:nvSpPr>
        <p:spPr>
          <a:xfrm>
            <a:off x="9163050" y="5067300"/>
            <a:ext cx="1047750" cy="133350"/>
          </a:xfrm>
          <a:prstGeom prst="roundRect">
            <a:avLst>
              <a:gd name="adj" fmla="val 50000"/>
            </a:avLst>
          </a:prstGeom>
          <a:solidFill>
            <a:srgbClr val="E8E7E3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80932FD-6869-4B38-A94A-80FB04DAA950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22</a:t>
            </a:r>
          </a:p>
        </p:txBody>
      </p:sp>
      <p:sp>
        <p:nvSpPr>
          <p:cNvPr id="64" name="Straight Connector 63">
            <a:extLst>
              <a:ext uri="{FF2B5EF4-FFF2-40B4-BE49-F238E27FC236}">
                <a16:creationId xmlns:a16="http://schemas.microsoft.com/office/drawing/2014/main" id="{0DC5CA6F-7F7E-4EA7-BE44-11B45119F340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66610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B89E96-67E5-4F71-B5FF-28AD7535654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KỊCH BẢN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D3C026-6F15-418F-ACD1-E0E6D456C1D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Một tình huống thường kỳ đi qua app như thế nào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3263AD4-619E-4480-A214-6136285896F7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1619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NVMH tạo DXMH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24472B7-44D3-4B11-95DE-D3D41B87C76C}"/>
              </a:ext>
            </a:extLst>
          </p:cNvPr>
          <p:cNvSpPr>
            <a:spLocks noGrp="1"/>
          </p:cNvSpPr>
          <p:nvPr/>
        </p:nvSpPr>
        <p:spPr>
          <a:xfrm>
            <a:off x="3124200" y="2914650"/>
            <a:ext cx="1619250" cy="781050"/>
          </a:xfrm>
          <a:prstGeom prst="roundRect">
            <a:avLst>
              <a:gd name="adj" fmla="val 9756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Lãnh đạo duyệt trong app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882635-2592-4117-83E4-D01F4B0579B5}"/>
              </a:ext>
            </a:extLst>
          </p:cNvPr>
          <p:cNvSpPr>
            <a:spLocks noGrp="1"/>
          </p:cNvSpPr>
          <p:nvPr/>
        </p:nvSpPr>
        <p:spPr>
          <a:xfrm>
            <a:off x="5372100" y="2914650"/>
            <a:ext cx="1619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NVMH nghiệm thu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6EBB8B4-C800-4191-9C3A-3B3C1F6F9DA1}"/>
              </a:ext>
            </a:extLst>
          </p:cNvPr>
          <p:cNvSpPr>
            <a:spLocks noGrp="1"/>
          </p:cNvSpPr>
          <p:nvPr/>
        </p:nvSpPr>
        <p:spPr>
          <a:xfrm>
            <a:off x="7620000" y="2914650"/>
            <a:ext cx="1619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KTTH lập DXTT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B7408C-670F-44D2-827F-610F1BC6A358}"/>
              </a:ext>
            </a:extLst>
          </p:cNvPr>
          <p:cNvSpPr>
            <a:spLocks noGrp="1"/>
          </p:cNvSpPr>
          <p:nvPr/>
        </p:nvSpPr>
        <p:spPr>
          <a:xfrm>
            <a:off x="9867900" y="2914650"/>
            <a:ext cx="1619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Thủ quỹ tải chứng từ chi</a:t>
            </a:r>
          </a:p>
        </p:txBody>
      </p:sp>
      <p:cxnSp>
        <p:nvCxnSpPr>
          <p:cNvPr id="22" name="Straight Arrow Connector 21"/>
          <p:cNvCxnSpPr>
            <a:stCxn id="3" idx="3"/>
            <a:endCxn id="4" idx="1"/>
          </p:cNvCxnSpPr>
          <p:nvPr/>
        </p:nvCxnSpPr>
        <p:spPr>
          <a:xfrm>
            <a:off x="2495550" y="3305175"/>
            <a:ext cx="628650" cy="0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cxnSp>
        <p:nvCxnSpPr>
          <p:cNvPr id="23" name="Straight Arrow Connector 22"/>
          <p:cNvCxnSpPr>
            <a:stCxn id="4" idx="3"/>
            <a:endCxn id="5" idx="1"/>
          </p:cNvCxnSpPr>
          <p:nvPr/>
        </p:nvCxnSpPr>
        <p:spPr>
          <a:xfrm>
            <a:off x="4743450" y="3305175"/>
            <a:ext cx="628650" cy="0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cxnSp>
        <p:nvCxnSpPr>
          <p:cNvPr id="24" name="Straight Arrow Connector 23"/>
          <p:cNvCxnSpPr>
            <a:stCxn id="5" idx="3"/>
            <a:endCxn id="6" idx="1"/>
          </p:cNvCxnSpPr>
          <p:nvPr/>
        </p:nvCxnSpPr>
        <p:spPr>
          <a:xfrm>
            <a:off x="6991350" y="3305175"/>
            <a:ext cx="628650" cy="0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cxnSp>
        <p:nvCxnSpPr>
          <p:cNvPr id="25" name="Straight Arrow Connector 24"/>
          <p:cNvCxnSpPr>
            <a:stCxn id="6" idx="3"/>
            <a:endCxn id="7" idx="1"/>
          </p:cNvCxnSpPr>
          <p:nvPr/>
        </p:nvCxnSpPr>
        <p:spPr>
          <a:xfrm>
            <a:off x="9239250" y="3305175"/>
            <a:ext cx="628650" cy="0"/>
          </a:xfrm>
          <a:prstGeom prst="straightConnector1">
            <a:avLst/>
          </a:prstGeom>
          <a:ln w="11430">
            <a:solidFill>
              <a:srgbClr val="666666"/>
            </a:solidFill>
            <a:prstDash val="soli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7AC6C-6C3A-4100-BA32-89CD8B4986C4}"/>
              </a:ext>
            </a:extLst>
          </p:cNvPr>
          <p:cNvSpPr>
            <a:spLocks noGrp="1"/>
          </p:cNvSpPr>
          <p:nvPr/>
        </p:nvSpPr>
        <p:spPr>
          <a:xfrm>
            <a:off x="2362200" y="4476750"/>
            <a:ext cx="7467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Không cần demo mọi nút. Chỉ cần lãnh đạo thấy đường đi và chốt kiểm soát.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5DC01D-D234-4CF5-869C-0D761BAF5329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23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2DAD255-422D-40A5-9DC3-21B85B6B8CF2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26523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359206-ECB8-403F-9C9D-F6CD16BE22FD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NGƯỜI PHỤ TRÁCH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0F9D71-35FA-4D79-A0F1-FB0A9ABF675C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Pilot cần một người phụ trách nghiệp vụ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BFA882-A00F-4CA6-9C5A-5103F6A84525}"/>
              </a:ext>
            </a:extLst>
          </p:cNvPr>
          <p:cNvSpPr>
            <a:spLocks noGrp="1"/>
          </p:cNvSpPr>
          <p:nvPr/>
        </p:nvSpPr>
        <p:spPr>
          <a:xfrm>
            <a:off x="4333875" y="1809750"/>
            <a:ext cx="3524250" cy="895350"/>
          </a:xfrm>
          <a:prstGeom prst="roundRect">
            <a:avLst>
              <a:gd name="adj" fmla="val 8511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Kế toán trưởng / KTTH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người phụ trách pilot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A968F7-4AC4-457A-84E2-01A897CE2F94}"/>
              </a:ext>
            </a:extLst>
          </p:cNvPr>
          <p:cNvSpPr>
            <a:spLocks noGrp="1"/>
          </p:cNvSpPr>
          <p:nvPr/>
        </p:nvSpPr>
        <p:spPr>
          <a:xfrm>
            <a:off x="1485900" y="3619500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NVMH</a:t>
            </a:r>
          </a:p>
        </p:txBody>
      </p:sp>
      <p:cxnSp>
        <p:nvCxnSpPr>
          <p:cNvPr id="19" name="Straight Arrow Connector 18"/>
          <p:cNvCxnSpPr>
            <a:stCxn id="3" idx="2"/>
            <a:endCxn id="4" idx="0"/>
          </p:cNvCxnSpPr>
          <p:nvPr/>
        </p:nvCxnSpPr>
        <p:spPr>
          <a:xfrm flipH="1">
            <a:off x="2343150" y="2705100"/>
            <a:ext cx="3752850" cy="914400"/>
          </a:xfrm>
          <a:prstGeom prst="straightConnector1">
            <a:avLst/>
          </a:prstGeom>
          <a:ln w="11430">
            <a:solidFill>
              <a:srgbClr val="A7A7A2"/>
            </a:solidFill>
            <a:prstDash val="solid"/>
          </a:ln>
        </p:spPr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D69B7D-EFE1-45A0-82D6-01A9D0FBE48A}"/>
              </a:ext>
            </a:extLst>
          </p:cNvPr>
          <p:cNvSpPr>
            <a:spLocks noGrp="1"/>
          </p:cNvSpPr>
          <p:nvPr/>
        </p:nvSpPr>
        <p:spPr>
          <a:xfrm>
            <a:off x="3676650" y="4095750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Lãnh đạo</a:t>
            </a:r>
          </a:p>
        </p:txBody>
      </p:sp>
      <p:cxnSp>
        <p:nvCxnSpPr>
          <p:cNvPr id="21" name="Straight Arrow Connector 20"/>
          <p:cNvCxnSpPr>
            <a:stCxn id="3" idx="2"/>
            <a:endCxn id="6" idx="0"/>
          </p:cNvCxnSpPr>
          <p:nvPr/>
        </p:nvCxnSpPr>
        <p:spPr>
          <a:xfrm flipH="1">
            <a:off x="4533900" y="2705100"/>
            <a:ext cx="1562100" cy="1390650"/>
          </a:xfrm>
          <a:prstGeom prst="straightConnector1">
            <a:avLst/>
          </a:prstGeom>
          <a:ln w="11430">
            <a:solidFill>
              <a:srgbClr val="A7A7A2"/>
            </a:solidFill>
            <a:prstDash val="solid"/>
          </a:ln>
        </p:spPr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3FAB65-A3D8-466D-8618-644C7230872E}"/>
              </a:ext>
            </a:extLst>
          </p:cNvPr>
          <p:cNvSpPr>
            <a:spLocks noGrp="1"/>
          </p:cNvSpPr>
          <p:nvPr/>
        </p:nvSpPr>
        <p:spPr>
          <a:xfrm>
            <a:off x="5867400" y="3619500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Huy</a:t>
            </a:r>
          </a:p>
        </p:txBody>
      </p:sp>
      <p:cxnSp>
        <p:nvCxnSpPr>
          <p:cNvPr id="23" name="Straight Arrow Connector 22"/>
          <p:cNvCxnSpPr>
            <a:stCxn id="3" idx="2"/>
            <a:endCxn id="8" idx="0"/>
          </p:cNvCxnSpPr>
          <p:nvPr/>
        </p:nvCxnSpPr>
        <p:spPr>
          <a:xfrm>
            <a:off x="6096000" y="2705100"/>
            <a:ext cx="628650" cy="914400"/>
          </a:xfrm>
          <a:prstGeom prst="straightConnector1">
            <a:avLst/>
          </a:prstGeom>
          <a:ln w="11430">
            <a:solidFill>
              <a:srgbClr val="A7A7A2"/>
            </a:solidFill>
            <a:prstDash val="solid"/>
          </a:ln>
        </p:spPr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E961750-1E13-43E6-99C2-C7CA22B6688F}"/>
              </a:ext>
            </a:extLst>
          </p:cNvPr>
          <p:cNvSpPr>
            <a:spLocks noGrp="1"/>
          </p:cNvSpPr>
          <p:nvPr/>
        </p:nvSpPr>
        <p:spPr>
          <a:xfrm>
            <a:off x="8058150" y="4095750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Thủ quỹ</a:t>
            </a:r>
          </a:p>
        </p:txBody>
      </p:sp>
      <p:cxnSp>
        <p:nvCxnSpPr>
          <p:cNvPr id="25" name="Straight Arrow Connector 24"/>
          <p:cNvCxnSpPr>
            <a:stCxn id="3" idx="2"/>
            <a:endCxn id="10" idx="0"/>
          </p:cNvCxnSpPr>
          <p:nvPr/>
        </p:nvCxnSpPr>
        <p:spPr>
          <a:xfrm>
            <a:off x="6096000" y="2705100"/>
            <a:ext cx="2819400" cy="1390650"/>
          </a:xfrm>
          <a:prstGeom prst="straightConnector1">
            <a:avLst/>
          </a:prstGeom>
          <a:ln w="11430">
            <a:solidFill>
              <a:srgbClr val="A7A7A2"/>
            </a:solidFill>
            <a:prstDash val="soli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A4278BD-B146-4E61-9565-3864BEF48333}"/>
              </a:ext>
            </a:extLst>
          </p:cNvPr>
          <p:cNvSpPr>
            <a:spLocks noGrp="1"/>
          </p:cNvSpPr>
          <p:nvPr/>
        </p:nvSpPr>
        <p:spPr>
          <a:xfrm>
            <a:off x="1962150" y="5562600"/>
            <a:ext cx="8267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Một người chịu trách nhiệm kết luận: đạt, chưa đạt, hay cần thêm một vòng pilot.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D5AEF1-4781-40CC-A838-B3E70F1786D2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24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BED97A9-26FD-475C-9279-D91A5769DA75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63766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8043FB-E473-49BB-BEBF-1A585F929C9F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TỔNG KẾT PILOT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05B2B8-3E2A-4107-B45C-7FB964387BF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Sau 2 tuần, báo cáo để quyết định mở rộng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735785C-11EC-4D51-8589-5401EF44C3F4}"/>
              </a:ext>
            </a:extLst>
          </p:cNvPr>
          <p:cNvSpPr>
            <a:spLocks noGrp="1"/>
          </p:cNvSpPr>
          <p:nvPr/>
        </p:nvSpPr>
        <p:spPr>
          <a:xfrm>
            <a:off x="1657350" y="2514600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Bằng chứng pilot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7D3CE3F-5D0C-4F53-BA48-6DDDA3BF66EA}"/>
              </a:ext>
            </a:extLst>
          </p:cNvPr>
          <p:cNvSpPr>
            <a:spLocks noGrp="1"/>
          </p:cNvSpPr>
          <p:nvPr/>
        </p:nvSpPr>
        <p:spPr>
          <a:xfrm>
            <a:off x="4953000" y="2514600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8D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Danh sách cần sửa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254154-8C45-4E75-B948-3956956F4785}"/>
              </a:ext>
            </a:extLst>
          </p:cNvPr>
          <p:cNvSpPr>
            <a:spLocks noGrp="1"/>
          </p:cNvSpPr>
          <p:nvPr/>
        </p:nvSpPr>
        <p:spPr>
          <a:xfrm>
            <a:off x="8248650" y="2514600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Mở rộng</a:t>
            </a:r>
          </a:p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hoặc lặp pilot</a:t>
            </a:r>
          </a:p>
        </p:txBody>
      </p:sp>
      <p:cxnSp>
        <p:nvCxnSpPr>
          <p:cNvPr id="16" name="Straight Arrow Connector 15"/>
          <p:cNvCxnSpPr>
            <a:stCxn id="3" idx="3"/>
            <a:endCxn id="4" idx="1"/>
          </p:cNvCxnSpPr>
          <p:nvPr/>
        </p:nvCxnSpPr>
        <p:spPr>
          <a:xfrm>
            <a:off x="3943350" y="3038475"/>
            <a:ext cx="100965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cxnSp>
        <p:nvCxnSpPr>
          <p:cNvPr id="17" name="Straight Arrow Connector 16"/>
          <p:cNvCxnSpPr>
            <a:stCxn id="4" idx="3"/>
            <a:endCxn id="5" idx="1"/>
          </p:cNvCxnSpPr>
          <p:nvPr/>
        </p:nvCxnSpPr>
        <p:spPr>
          <a:xfrm>
            <a:off x="7239000" y="3038475"/>
            <a:ext cx="1009650" cy="0"/>
          </a:xfrm>
          <a:prstGeom prst="straightConnector1">
            <a:avLst/>
          </a:prstGeom>
          <a:ln w="14288">
            <a:solidFill>
              <a:srgbClr val="666666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22A7F5F-64DA-4CC7-80DE-45455390FAB4}"/>
              </a:ext>
            </a:extLst>
          </p:cNvPr>
          <p:cNvSpPr>
            <a:spLocks noGrp="1"/>
          </p:cNvSpPr>
          <p:nvPr/>
        </p:nvSpPr>
        <p:spPr>
          <a:xfrm>
            <a:off x="2419350" y="4400550"/>
            <a:ext cx="7353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666666"/>
                </a:solidFill>
              </a:defRPr>
            </a:pPr>
            <a:r>
              <a:rPr sz="1875" b="0">
                <a:solidFill>
                  <a:srgbClr val="666666"/>
                </a:solidFill>
              </a:rPr>
              <a:t>Quyết định sau pilot dựa trên bằng chứng, không dựa trên cảm giác.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DAF3E-75D9-478F-B815-5BC88D9243CD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25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98021D4-397B-40E6-90AB-3329D40727AF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03624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E4B98CE-5926-43CF-9C32-02E7FF0DD019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CÂU HỎI CẦN CHỐT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6357EC-CB34-4044-9364-91D06C969479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Những câu hỏi cần chốt hôm nay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72010D1-6AA5-4C72-A9AD-BDABB375481F}"/>
              </a:ext>
            </a:extLst>
          </p:cNvPr>
          <p:cNvSpPr>
            <a:spLocks noGrp="1"/>
          </p:cNvSpPr>
          <p:nvPr/>
        </p:nvSpPr>
        <p:spPr>
          <a:xfrm>
            <a:off x="1428750" y="17907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DDD49-F9E6-420B-9401-D9A775B11088}"/>
              </a:ext>
            </a:extLst>
          </p:cNvPr>
          <p:cNvSpPr>
            <a:spLocks noGrp="1"/>
          </p:cNvSpPr>
          <p:nvPr/>
        </p:nvSpPr>
        <p:spPr>
          <a:xfrm>
            <a:off x="2133600" y="18573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Nhóm đơn thường kỳ nào vào pilot?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6ED192-16BE-4CE7-AFC7-B213D1735553}"/>
              </a:ext>
            </a:extLst>
          </p:cNvPr>
          <p:cNvSpPr>
            <a:spLocks noGrp="1"/>
          </p:cNvSpPr>
          <p:nvPr/>
        </p:nvSpPr>
        <p:spPr>
          <a:xfrm>
            <a:off x="1428750" y="24765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D290E-40E6-49D8-ACCB-68ED5E538854}"/>
              </a:ext>
            </a:extLst>
          </p:cNvPr>
          <p:cNvSpPr>
            <a:spLocks noGrp="1"/>
          </p:cNvSpPr>
          <p:nvPr/>
        </p:nvSpPr>
        <p:spPr>
          <a:xfrm>
            <a:off x="2133600" y="25431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Ai là người phụ trách pilot?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33D7CC2-6D02-43B6-BDF6-6AA7AB09D2D9}"/>
              </a:ext>
            </a:extLst>
          </p:cNvPr>
          <p:cNvSpPr>
            <a:spLocks noGrp="1"/>
          </p:cNvSpPr>
          <p:nvPr/>
        </p:nvSpPr>
        <p:spPr>
          <a:xfrm>
            <a:off x="1428750" y="31623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0E5AA7"/>
          </a:solidFill>
          <a:ln w="9525">
            <a:solidFill>
              <a:srgbClr val="0E5AA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252B1-8224-4732-BF42-927EEC2417F6}"/>
              </a:ext>
            </a:extLst>
          </p:cNvPr>
          <p:cNvSpPr>
            <a:spLocks noGrp="1"/>
          </p:cNvSpPr>
          <p:nvPr/>
        </p:nvSpPr>
        <p:spPr>
          <a:xfrm>
            <a:off x="2133600" y="32289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Duyệt trong app là chính trong phạm vi pilot?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FE57205-5C1A-4465-A610-4BF2CC8084A1}"/>
              </a:ext>
            </a:extLst>
          </p:cNvPr>
          <p:cNvSpPr>
            <a:spLocks noGrp="1"/>
          </p:cNvSpPr>
          <p:nvPr/>
        </p:nvSpPr>
        <p:spPr>
          <a:xfrm>
            <a:off x="1428750" y="38481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D0DCC-5CFB-403A-BC5D-E02850A7F4AC}"/>
              </a:ext>
            </a:extLst>
          </p:cNvPr>
          <p:cNvSpPr>
            <a:spLocks noGrp="1"/>
          </p:cNvSpPr>
          <p:nvPr/>
        </p:nvSpPr>
        <p:spPr>
          <a:xfrm>
            <a:off x="2133600" y="39147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Dự phòng Viber ghi nhận thế nào?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F26EF8-389E-44F5-A60F-60717E1368FD}"/>
              </a:ext>
            </a:extLst>
          </p:cNvPr>
          <p:cNvSpPr>
            <a:spLocks noGrp="1"/>
          </p:cNvSpPr>
          <p:nvPr/>
        </p:nvSpPr>
        <p:spPr>
          <a:xfrm>
            <a:off x="1428750" y="45339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F93978-CC2C-4115-B2FC-DEBC57184516}"/>
              </a:ext>
            </a:extLst>
          </p:cNvPr>
          <p:cNvSpPr>
            <a:spLocks noGrp="1"/>
          </p:cNvSpPr>
          <p:nvPr/>
        </p:nvSpPr>
        <p:spPr>
          <a:xfrm>
            <a:off x="2133600" y="46005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Cuối pilot báo cáo theo tiêu chí nào?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231859-B974-4347-8039-C00448665889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26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3F29DE6-89D3-4700-908C-AC6ECC3E47AE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39676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6D85A19-0269-489B-A862-77B23D52858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ĐỀ NGHỊ CHỐT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60A64D-B1DC-4583-8367-2FB8817DA76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Xin phê duyệt pilot 2 tuần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050FBD-E846-4245-9157-EF46B78FFAC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9220200" cy="1466850"/>
          </a:xfrm>
          <a:prstGeom prst="roundRect">
            <a:avLst>
              <a:gd name="adj" fmla="val 5195"/>
            </a:avLst>
          </a:prstGeom>
          <a:solidFill>
            <a:srgbClr val="EAF2F8"/>
          </a:solidFill>
          <a:ln w="9525">
            <a:solidFill>
              <a:srgbClr val="C8DCEB"/>
            </a:solidFill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Các đơn mua hàng thường kỳ hiện xử lý qua Viber</a:t>
            </a:r>
          </a:p>
          <a:p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sẽ được duyệt chính trong app và đi hết flow tới chứng từ chi tiền.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BA98C0-89E6-4FAB-8CEB-AE744532A121}"/>
              </a:ext>
            </a:extLst>
          </p:cNvPr>
          <p:cNvSpPr>
            <a:spLocks noGrp="1"/>
          </p:cNvSpPr>
          <p:nvPr/>
        </p:nvSpPr>
        <p:spPr>
          <a:xfrm>
            <a:off x="2095500" y="4229100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B03D87-0BDE-49E0-81FA-C311F3AAE809}"/>
              </a:ext>
            </a:extLst>
          </p:cNvPr>
          <p:cNvSpPr>
            <a:spLocks noGrp="1"/>
          </p:cNvSpPr>
          <p:nvPr/>
        </p:nvSpPr>
        <p:spPr>
          <a:xfrm>
            <a:off x="2552700" y="4181475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Chốt phạm vi pilot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B18F4B-00A6-4441-8940-A99274ABBD5E}"/>
              </a:ext>
            </a:extLst>
          </p:cNvPr>
          <p:cNvSpPr>
            <a:spLocks noGrp="1"/>
          </p:cNvSpPr>
          <p:nvPr/>
        </p:nvSpPr>
        <p:spPr>
          <a:xfrm>
            <a:off x="4953000" y="4229100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1FBD47-BD26-4F83-8F1C-3FE40A15045B}"/>
              </a:ext>
            </a:extLst>
          </p:cNvPr>
          <p:cNvSpPr>
            <a:spLocks noGrp="1"/>
          </p:cNvSpPr>
          <p:nvPr/>
        </p:nvSpPr>
        <p:spPr>
          <a:xfrm>
            <a:off x="5410200" y="4181475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Chốt người phụ trách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8133349-577B-4AC6-8BC1-A115854C8D7E}"/>
              </a:ext>
            </a:extLst>
          </p:cNvPr>
          <p:cNvSpPr>
            <a:spLocks noGrp="1"/>
          </p:cNvSpPr>
          <p:nvPr/>
        </p:nvSpPr>
        <p:spPr>
          <a:xfrm>
            <a:off x="7810500" y="4229100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DC3462-2AB8-4636-8036-D3486085F318}"/>
              </a:ext>
            </a:extLst>
          </p:cNvPr>
          <p:cNvSpPr>
            <a:spLocks noGrp="1"/>
          </p:cNvSpPr>
          <p:nvPr/>
        </p:nvSpPr>
        <p:spPr>
          <a:xfrm>
            <a:off x="8267700" y="4181475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Chốt tiêu chí báo cáo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C18AAC-4334-45D3-AA92-E776EA8E1EB4}"/>
              </a:ext>
            </a:extLst>
          </p:cNvPr>
          <p:cNvSpPr>
            <a:spLocks noGrp="1"/>
          </p:cNvSpPr>
          <p:nvPr/>
        </p:nvSpPr>
        <p:spPr>
          <a:xfrm>
            <a:off x="2209800" y="5543550"/>
            <a:ext cx="7772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Đồng ý pilot hôm nay = bắt đầu pilot có kiểm soát, không phải triển khai toàn bộ.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57B58A-D6DA-4ECF-8D29-3BF6315C9917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rPr sz="900" b="0">
                <a:solidFill>
                  <a:srgbClr val="A0A0A0"/>
                </a:solidFill>
              </a:rPr>
              <a:t>27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B118DD2-8826-4E75-B809-4B66D31E1593}"/>
              </a:ext>
            </a:extLst>
          </p:cNvPr>
          <p:cNvSpPr>
            <a:spLocks noGrp="1"/>
          </p:cNvSpPr>
          <p:nvPr/>
        </p:nvSpPr>
        <p:spPr>
          <a:xfrm>
            <a:off x="1066800" y="6457950"/>
            <a:ext cx="857250" cy="0"/>
          </a:xfrm>
          <a:prstGeom prst="line">
            <a:avLst/>
          </a:prstGeom>
          <a:noFill/>
          <a:ln w="9525">
            <a:solidFill>
              <a:srgbClr val="C9C8C3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222804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</Words>
  <Application>Microsoft Macintosh PowerPoint</Application>
  <DocSecurity>0</DocSecurity>
  <PresentationFormat>Widescreen</PresentationFormat>
  <Paragraphs>303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Anh Huy Lê</cp:lastModifiedBy>
  <cp:revision>1</cp:revision>
  <dcterms:created xsi:type="dcterms:W3CDTF">2026-07-06T14:03:08Z</dcterms:created>
  <dcterms:modified xsi:type="dcterms:W3CDTF">2026-07-06T14:26:43Z</dcterms:modified>
</cp:coreProperties>
</file>